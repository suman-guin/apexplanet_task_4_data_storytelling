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11c0270-3f86-6290-ce71-cf693f7e144b}">
          <p14:sldIdLst>
            <p14:sldId id="256"/>
            <p14:sldId id="257"/>
          </p14:sldIdLst>
        </p14:section>
        <p14:section name="Performance" id="{edd34105-778d-5708-5398-28549fa8a21f}">
          <p14:sldIdLst>
            <p14:sldId id="258"/>
            <p14:sldId id="259"/>
            <p14:sldId id="260"/>
            <p14:sldId id="261"/>
          </p14:sldIdLst>
        </p14:section>
        <p14:section name="Validation" id="{e174bd2b-3b85-6ea5-d024-4d60711fe0f6}">
          <p14:sldIdLst>
            <p14:sldId id="262"/>
          </p14:sldIdLst>
        </p14:section>
        <p14:section name="Action" id="{b4cfc60b-bb5d-6296-e6a7-60587451fcdf}">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tells one story: where sales value comes from, which customers drive it, and what the statistical test does and does not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moves from cleaning through exploration and BI to statistical validation, and ends in recommendations. Dataset: 1,000 records, 12 columns, no missing values, no complete duplicate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KPIs from the verified findings: approximately ₹139.4 million in total sales, 5,435 units, 947 unique customers, 992 unique orders, and an average order value of ₹140,523.63 based on unique Order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Value customers are about a quarter of customers (237 of 947) but contribute more than half of total sales (55.27%). Medium Value contribute 40.69% and Low Value 4.04%. The retention priority follows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Electronics generated approximately ₹50.78 million, about 36.43% of total sales. Top products: Laptop ≈₹25.44M, Mobile ≈₹25.34M, Book ≈₹25.03M. Important: this is a total-sales contribution; it does not by itself mean individual Electronics transactions are higher in value. The next sections test that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Patna has the highest total sales (≈₹19.29M); Bengaluru has the highest sales per customer (≈₹156,446). Total sales and sales per customer give different views, so both matter when prioritising markets. March 2025 is the highest complete month and September 2025 the lowest. January 2026 holds only partial-period data and should not be compared directly with complete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Welch's t-test: Electronics mean ₹143,442.32 versus Non-Electronics ₹137,183.99, a difference of ₹6,258.33. T = 0.8179, p = 0.413674, which is above 0.05, so we fail to reject H0. The 95% confidence interval (₹−8,764.16 to ₹21,280.82) includes zero and Cohen's d of 0.0548 is negligible. We cannot conclude that average transaction values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concentration of revenue in High Value customers, Electronics as the leading category, Laptop and Mobile as strong products, variation across cities and months, and no statistically significant transaction-value difference for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are practical and tied to the verified findings. The first, High Value retention, is the strongest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core message: strong sales, concentrated in High Value customers, Electronics leads on revenue but not on a statistically significant transaction-value difference. Ask stakeholders to act on the five call-to-action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p:nvPr/>
        </p:nvSpPr>
        <p:spPr>
          <a:xfrm>
            <a:off x="457200" y="4846320"/>
            <a:ext cx="5486400" cy="201168"/>
          </a:xfrm>
          <a:prstGeom prst="rect">
            <a:avLst/>
          </a:prstGeom>
          <a:noFill/>
          <a:ln/>
        </p:spPr>
        <p:txBody>
          <a:bodyPr wrap="square" lIns="0" tIns="0" rIns="0" bIns="0" rtlCol="0" anchor="ctr"/>
          <a:lstStyle/>
          <a:p>
            <a:pPr indent="0" marL="0">
              <a:buNone/>
            </a:pPr>
            <a:r>
              <a:rPr lang="en-US" sz="1000" dirty="0">
                <a:solidFill>
                  <a:schemeClr val="accent4"/>
                </a:solidFill>
              </a:rPr>
              <a:t>ApexPlanet Data Analytics Internship  |  Task 4: Data Storytelling</a:t>
            </a:r>
            <a:endParaRPr lang="en-US" sz="1000" dirty="0"/>
          </a:p>
        </p:txBody>
      </p:sp>
      <p:sp>
        <p:nvSpPr>
          <p:cNvPr id="4" name="Text 2"/>
          <p:cNvSpPr/>
          <p:nvPr>
            <p:ph idx="102" type="title" hasCustomPrompt="1"/>
          </p:nvPr>
        </p:nvSpPr>
        <p:spPr>
          <a:xfrm>
            <a:off x="457200" y="256032"/>
            <a:ext cx="8229600" cy="50292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5" name="Text 2"/>
          <p:cNvSpPr/>
          <p:nvPr>
            <p:ph idx="103" type="body" hasCustomPrompt="1"/>
          </p:nvPr>
        </p:nvSpPr>
        <p:spPr>
          <a:xfrm>
            <a:off x="457200" y="777240"/>
            <a:ext cx="8229600" cy="365760"/>
          </a:xfrm>
          <a:prstGeom prst="rect">
            <a:avLst/>
          </a:prstGeom>
          <a:noFill/>
          <a:ln/>
        </p:spPr>
        <p:txBody>
          <a:bodyPr wrap="square" rtlCol="0"/>
          <a:lstStyle>
            <a:lvl1pPr indent="0" marL="0">
              <a:buNone/>
              <a:defRPr lang="en-US" sz="1400" i="1" dirty="0">
                <a:solidFill>
                  <a:schemeClr val="accent1"/>
                </a:solidFill>
              </a:defRPr>
            </a:lvl1pPr>
          </a:lstStyle>
          <a:p>
            <a:pPr indent="0" marL="0">
              <a:buNone/>
            </a:pP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nvSpPr>
        <p:spPr>
          <a:xfrm>
            <a:off x="457200" y="4846320"/>
            <a:ext cx="5486400" cy="201168"/>
          </a:xfrm>
          <a:prstGeom prst="rect">
            <a:avLst/>
          </a:prstGeom>
          <a:noFill/>
          <a:ln/>
        </p:spPr>
        <p:txBody>
          <a:bodyPr wrap="square" lIns="0" tIns="0" rIns="0" bIns="0" rtlCol="0" anchor="ctr"/>
          <a:lstStyle/>
          <a:p>
            <a:pPr indent="0" marL="0">
              <a:buNone/>
            </a:pPr>
            <a:r>
              <a:rPr lang="en-US" sz="1000" dirty="0">
                <a:solidFill>
                  <a:schemeClr val="accent5"/>
                </a:solidFill>
              </a:rPr>
              <a:t>ApexPlanet Data Analytics Internship  |  Task 4: Data Storytelling</a:t>
            </a:r>
            <a:endParaRPr lang="en-US" sz="1000" dirty="0"/>
          </a:p>
        </p:txBody>
      </p:sp>
      <p:sp>
        <p:nvSpPr>
          <p:cNvPr id="4" name="Text 2"/>
          <p:cNvSpPr/>
          <p:nvPr>
            <p:ph idx="102" type="title" hasCustomPrompt="1"/>
          </p:nvPr>
        </p:nvSpPr>
        <p:spPr>
          <a:xfrm>
            <a:off x="457200" y="256032"/>
            <a:ext cx="8229600" cy="50292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C8D3E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40080" y="960120"/>
            <a:ext cx="73152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STAKEHOLDER PRESENTATION</a:t>
            </a:r>
            <a:endParaRPr lang="en-US" sz="1200" dirty="0"/>
          </a:p>
        </p:txBody>
      </p:sp>
      <p:sp>
        <p:nvSpPr>
          <p:cNvPr id="3" name="Title"/>
          <p:cNvSpPr txBox="1"/>
          <p:nvPr/>
        </p:nvSpPr>
        <p:spPr>
          <a:xfrm>
            <a:off x="640080" y="1325880"/>
            <a:ext cx="7498080" cy="1325880"/>
          </a:xfrm>
          <a:prstGeom prst="rect">
            <a:avLst/>
          </a:prstGeom>
          <a:noFill/>
          <a:ln/>
        </p:spPr>
        <p:txBody>
          <a:bodyPr wrap="square" lIns="0" tIns="0" rIns="0" bIns="0" rtlCol="0" anchor="t"/>
          <a:lstStyle/>
          <a:p>
            <a:pPr indent="0" marL="0">
              <a:buNone/>
            </a:pPr>
            <a:r>
              <a:rPr lang="en-US" sz="4000" b="1" dirty="0">
                <a:solidFill>
                  <a:schemeClr val="bg1"/>
                </a:solidFill>
                <a:latin typeface="+mj-lt" pitchFamily="34" charset="0"/>
                <a:ea typeface="+mj-lt" pitchFamily="34" charset="-122"/>
                <a:cs typeface="+mj-lt" pitchFamily="34" charset="-120"/>
              </a:rPr>
              <a:t>Sales Performance &amp; Customer Intelligence</a:t>
            </a:r>
            <a:endParaRPr lang="en-US" sz="4000" dirty="0"/>
          </a:p>
        </p:txBody>
      </p:sp>
      <p:sp>
        <p:nvSpPr>
          <p:cNvPr id="4" name="Subtitle"/>
          <p:cNvSpPr txBox="1"/>
          <p:nvPr/>
        </p:nvSpPr>
        <p:spPr>
          <a:xfrm>
            <a:off x="640080" y="2743200"/>
            <a:ext cx="7315200" cy="365760"/>
          </a:xfrm>
          <a:prstGeom prst="rect">
            <a:avLst/>
          </a:prstGeom>
          <a:noFill/>
          <a:ln/>
        </p:spPr>
        <p:txBody>
          <a:bodyPr wrap="square" lIns="0" tIns="0" rIns="0" bIns="0" rtlCol="0" anchor="ctr"/>
          <a:lstStyle/>
          <a:p>
            <a:pPr indent="0" marL="0">
              <a:buNone/>
            </a:pPr>
            <a:r>
              <a:rPr lang="en-US" sz="1800" dirty="0">
                <a:solidFill>
                  <a:schemeClr val="accent5"/>
                </a:solidFill>
              </a:rPr>
              <a:t>ApexPlanet Data Analytics Internship — Task 4</a:t>
            </a:r>
            <a:endParaRPr lang="en-US" sz="1800" dirty="0"/>
          </a:p>
        </p:txBody>
      </p:sp>
      <p:sp>
        <p:nvSpPr>
          <p:cNvPr id="5" name="Pill Data Storytelling"/>
          <p:cNvSpPr/>
          <p:nvPr/>
        </p:nvSpPr>
        <p:spPr>
          <a:xfrm>
            <a:off x="640080" y="3657600"/>
            <a:ext cx="2148840" cy="384048"/>
          </a:xfrm>
          <a:prstGeom prst="roundRect">
            <a:avLst>
              <a:gd name="adj" fmla="val 47619"/>
            </a:avLst>
          </a:prstGeom>
          <a:solidFill>
            <a:schemeClr val="tx2"/>
          </a:solidFill>
          <a:ln/>
        </p:spPr>
        <p:txBody>
          <a:bodyPr wrap="square" lIns="0" tIns="0" rIns="0" bIns="0" rtlCol="0" anchor="ctr"/>
          <a:lstStyle/>
          <a:p>
            <a:pPr algn="ctr" indent="0" marL="0">
              <a:buNone/>
            </a:pPr>
            <a:r>
              <a:rPr lang="en-US" sz="1300" b="1" dirty="0">
                <a:solidFill>
                  <a:schemeClr val="bg1"/>
                </a:solidFill>
              </a:rPr>
              <a:t>Data Storytelling</a:t>
            </a:r>
            <a:endParaRPr lang="en-US" sz="1300" dirty="0"/>
          </a:p>
        </p:txBody>
      </p:sp>
      <p:sp>
        <p:nvSpPr>
          <p:cNvPr id="6" name="Pill Business Intelligence"/>
          <p:cNvSpPr/>
          <p:nvPr/>
        </p:nvSpPr>
        <p:spPr>
          <a:xfrm>
            <a:off x="2971800" y="3657600"/>
            <a:ext cx="2148840" cy="384048"/>
          </a:xfrm>
          <a:prstGeom prst="roundRect">
            <a:avLst>
              <a:gd name="adj" fmla="val 47619"/>
            </a:avLst>
          </a:prstGeom>
          <a:solidFill>
            <a:schemeClr val="tx2"/>
          </a:solidFill>
          <a:ln/>
        </p:spPr>
        <p:txBody>
          <a:bodyPr wrap="square" lIns="0" tIns="0" rIns="0" bIns="0" rtlCol="0" anchor="ctr"/>
          <a:lstStyle/>
          <a:p>
            <a:pPr algn="ctr" indent="0" marL="0">
              <a:buNone/>
            </a:pPr>
            <a:r>
              <a:rPr lang="en-US" sz="1300" b="1" dirty="0">
                <a:solidFill>
                  <a:schemeClr val="bg1"/>
                </a:solidFill>
              </a:rPr>
              <a:t>Business Intelligence</a:t>
            </a:r>
            <a:endParaRPr lang="en-US" sz="1300" dirty="0"/>
          </a:p>
        </p:txBody>
      </p:sp>
      <p:sp>
        <p:nvSpPr>
          <p:cNvPr id="7" name="Pill Statistical Validation"/>
          <p:cNvSpPr/>
          <p:nvPr/>
        </p:nvSpPr>
        <p:spPr>
          <a:xfrm>
            <a:off x="5303520" y="3657600"/>
            <a:ext cx="2148840" cy="384048"/>
          </a:xfrm>
          <a:prstGeom prst="roundRect">
            <a:avLst>
              <a:gd name="adj" fmla="val 47619"/>
            </a:avLst>
          </a:prstGeom>
          <a:solidFill>
            <a:schemeClr val="tx2"/>
          </a:solidFill>
          <a:ln/>
        </p:spPr>
        <p:txBody>
          <a:bodyPr wrap="square" lIns="0" tIns="0" rIns="0" bIns="0" rtlCol="0" anchor="ctr"/>
          <a:lstStyle/>
          <a:p>
            <a:pPr algn="ctr" indent="0" marL="0">
              <a:buNone/>
            </a:pPr>
            <a:r>
              <a:rPr lang="en-US" sz="1300" b="1" dirty="0">
                <a:solidFill>
                  <a:schemeClr val="bg1"/>
                </a:solidFill>
              </a:rPr>
              <a:t>Statistical Validation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Business Objective &amp; Analytical Approach</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Understand what drives sales and where revenue is concentrated</a:t>
            </a:r>
            <a:endParaRPr lang="en-US" sz="1400" dirty="0"/>
          </a:p>
        </p:txBody>
      </p:sp>
      <p:sp>
        <p:nvSpPr>
          <p:cNvPr id="4" name="Problem card"/>
          <p:cNvSpPr/>
          <p:nvPr/>
        </p:nvSpPr>
        <p:spPr>
          <a:xfrm>
            <a:off x="457200" y="1325880"/>
            <a:ext cx="3017520" cy="187452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Problem label"/>
          <p:cNvSpPr txBox="1"/>
          <p:nvPr/>
        </p:nvSpPr>
        <p:spPr>
          <a:xfrm>
            <a:off x="640080" y="1463040"/>
            <a:ext cx="265176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PROBLEM</a:t>
            </a:r>
            <a:endParaRPr lang="en-US" sz="1100" dirty="0"/>
          </a:p>
        </p:txBody>
      </p:sp>
      <p:sp>
        <p:nvSpPr>
          <p:cNvPr id="6" name="Problem text"/>
          <p:cNvSpPr txBox="1"/>
          <p:nvPr/>
        </p:nvSpPr>
        <p:spPr>
          <a:xfrm>
            <a:off x="640080" y="1755648"/>
            <a:ext cx="2651760" cy="1325880"/>
          </a:xfrm>
          <a:prstGeom prst="rect">
            <a:avLst/>
          </a:prstGeom>
          <a:noFill/>
          <a:ln/>
        </p:spPr>
        <p:txBody>
          <a:bodyPr wrap="square" lIns="0" tIns="0" rIns="0" bIns="0" rtlCol="0" anchor="t"/>
          <a:lstStyle/>
          <a:p>
            <a:pPr indent="0" marL="0">
              <a:buNone/>
            </a:pPr>
            <a:r>
              <a:rPr lang="en-US" sz="1500" b="1" dirty="0">
                <a:solidFill>
                  <a:schemeClr val="tx1"/>
                </a:solidFill>
              </a:rPr>
              <a:t>How is the business performing, and which customers, categories, products, cities and periods drive its sales?</a:t>
            </a:r>
            <a:endParaRPr lang="en-US" sz="1500" dirty="0"/>
          </a:p>
        </p:txBody>
      </p:sp>
      <p:sp>
        <p:nvSpPr>
          <p:cNvPr id="7" name="Aims card"/>
          <p:cNvSpPr/>
          <p:nvPr/>
        </p:nvSpPr>
        <p:spPr>
          <a:xfrm>
            <a:off x="3657600" y="1325880"/>
            <a:ext cx="5029200" cy="187452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8" name="Aims label"/>
          <p:cNvSpPr txBox="1"/>
          <p:nvPr/>
        </p:nvSpPr>
        <p:spPr>
          <a:xfrm>
            <a:off x="3840480" y="1463040"/>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THE ANALYSIS AIMS TO UNDERSTAND</a:t>
            </a:r>
            <a:endParaRPr lang="en-US" sz="1100" dirty="0"/>
          </a:p>
        </p:txBody>
      </p:sp>
      <p:sp>
        <p:nvSpPr>
          <p:cNvPr id="9" name="Aim dot 1"/>
          <p:cNvSpPr/>
          <p:nvPr/>
        </p:nvSpPr>
        <p:spPr>
          <a:xfrm>
            <a:off x="3840480" y="1892808"/>
            <a:ext cx="109728" cy="109728"/>
          </a:xfrm>
          <a:prstGeom prst="ellipse">
            <a:avLst/>
          </a:prstGeom>
          <a:solidFill>
            <a:schemeClr val="accent2"/>
          </a:solidFill>
          <a:ln w="12700">
            <a:solidFill>
              <a:schemeClr val="accent2"/>
            </a:solidFill>
            <a:prstDash val="solid"/>
          </a:ln>
        </p:spPr>
      </p:sp>
      <p:sp>
        <p:nvSpPr>
          <p:cNvPr id="10" name="Aim 1"/>
          <p:cNvSpPr txBox="1"/>
          <p:nvPr/>
        </p:nvSpPr>
        <p:spPr>
          <a:xfrm>
            <a:off x="4041648" y="1810512"/>
            <a:ext cx="2057400" cy="274320"/>
          </a:xfrm>
          <a:prstGeom prst="rect">
            <a:avLst/>
          </a:prstGeom>
          <a:noFill/>
          <a:ln/>
        </p:spPr>
        <p:txBody>
          <a:bodyPr wrap="square" lIns="0" tIns="0" rIns="0" bIns="0" rtlCol="0" anchor="ctr"/>
          <a:lstStyle/>
          <a:p>
            <a:pPr indent="0" marL="0">
              <a:buNone/>
            </a:pPr>
            <a:r>
              <a:rPr lang="en-US" sz="1300" dirty="0">
                <a:solidFill>
                  <a:schemeClr val="tx1"/>
                </a:solidFill>
              </a:rPr>
              <a:t>Sales performance</a:t>
            </a:r>
            <a:endParaRPr lang="en-US" sz="1300" dirty="0"/>
          </a:p>
        </p:txBody>
      </p:sp>
      <p:sp>
        <p:nvSpPr>
          <p:cNvPr id="11" name="Aim dot 2"/>
          <p:cNvSpPr/>
          <p:nvPr/>
        </p:nvSpPr>
        <p:spPr>
          <a:xfrm>
            <a:off x="6172200" y="1892808"/>
            <a:ext cx="109728" cy="109728"/>
          </a:xfrm>
          <a:prstGeom prst="ellipse">
            <a:avLst/>
          </a:prstGeom>
          <a:solidFill>
            <a:schemeClr val="accent2"/>
          </a:solidFill>
          <a:ln w="12700">
            <a:solidFill>
              <a:schemeClr val="accent2"/>
            </a:solidFill>
            <a:prstDash val="solid"/>
          </a:ln>
        </p:spPr>
      </p:sp>
      <p:sp>
        <p:nvSpPr>
          <p:cNvPr id="12" name="Aim 2"/>
          <p:cNvSpPr txBox="1"/>
          <p:nvPr/>
        </p:nvSpPr>
        <p:spPr>
          <a:xfrm>
            <a:off x="6373368" y="1810512"/>
            <a:ext cx="2057400" cy="274320"/>
          </a:xfrm>
          <a:prstGeom prst="rect">
            <a:avLst/>
          </a:prstGeom>
          <a:noFill/>
          <a:ln/>
        </p:spPr>
        <p:txBody>
          <a:bodyPr wrap="square" lIns="0" tIns="0" rIns="0" bIns="0" rtlCol="0" anchor="ctr"/>
          <a:lstStyle/>
          <a:p>
            <a:pPr indent="0" marL="0">
              <a:buNone/>
            </a:pPr>
            <a:r>
              <a:rPr lang="en-US" sz="1300" dirty="0">
                <a:solidFill>
                  <a:schemeClr val="tx1"/>
                </a:solidFill>
              </a:rPr>
              <a:t>Customer contribution</a:t>
            </a:r>
            <a:endParaRPr lang="en-US" sz="1300" dirty="0"/>
          </a:p>
        </p:txBody>
      </p:sp>
      <p:sp>
        <p:nvSpPr>
          <p:cNvPr id="13" name="Aim dot 3"/>
          <p:cNvSpPr/>
          <p:nvPr/>
        </p:nvSpPr>
        <p:spPr>
          <a:xfrm>
            <a:off x="3840480" y="2350008"/>
            <a:ext cx="109728" cy="109728"/>
          </a:xfrm>
          <a:prstGeom prst="ellipse">
            <a:avLst/>
          </a:prstGeom>
          <a:solidFill>
            <a:schemeClr val="accent2"/>
          </a:solidFill>
          <a:ln w="12700">
            <a:solidFill>
              <a:schemeClr val="accent2"/>
            </a:solidFill>
            <a:prstDash val="solid"/>
          </a:ln>
        </p:spPr>
      </p:sp>
      <p:sp>
        <p:nvSpPr>
          <p:cNvPr id="14" name="Aim 3"/>
          <p:cNvSpPr txBox="1"/>
          <p:nvPr/>
        </p:nvSpPr>
        <p:spPr>
          <a:xfrm>
            <a:off x="4041648" y="2267712"/>
            <a:ext cx="2057400" cy="274320"/>
          </a:xfrm>
          <a:prstGeom prst="rect">
            <a:avLst/>
          </a:prstGeom>
          <a:noFill/>
          <a:ln/>
        </p:spPr>
        <p:txBody>
          <a:bodyPr wrap="square" lIns="0" tIns="0" rIns="0" bIns="0" rtlCol="0" anchor="ctr"/>
          <a:lstStyle/>
          <a:p>
            <a:pPr indent="0" marL="0">
              <a:buNone/>
            </a:pPr>
            <a:r>
              <a:rPr lang="en-US" sz="1300" dirty="0">
                <a:solidFill>
                  <a:schemeClr val="tx1"/>
                </a:solidFill>
              </a:rPr>
              <a:t>Category &amp; product performance</a:t>
            </a:r>
            <a:endParaRPr lang="en-US" sz="1300" dirty="0"/>
          </a:p>
        </p:txBody>
      </p:sp>
      <p:sp>
        <p:nvSpPr>
          <p:cNvPr id="15" name="Aim dot 4"/>
          <p:cNvSpPr/>
          <p:nvPr/>
        </p:nvSpPr>
        <p:spPr>
          <a:xfrm>
            <a:off x="6172200" y="2350008"/>
            <a:ext cx="109728" cy="109728"/>
          </a:xfrm>
          <a:prstGeom prst="ellipse">
            <a:avLst/>
          </a:prstGeom>
          <a:solidFill>
            <a:schemeClr val="accent2"/>
          </a:solidFill>
          <a:ln w="12700">
            <a:solidFill>
              <a:schemeClr val="accent2"/>
            </a:solidFill>
            <a:prstDash val="solid"/>
          </a:ln>
        </p:spPr>
      </p:sp>
      <p:sp>
        <p:nvSpPr>
          <p:cNvPr id="16" name="Aim 4"/>
          <p:cNvSpPr txBox="1"/>
          <p:nvPr/>
        </p:nvSpPr>
        <p:spPr>
          <a:xfrm>
            <a:off x="6373368" y="2267712"/>
            <a:ext cx="2057400" cy="274320"/>
          </a:xfrm>
          <a:prstGeom prst="rect">
            <a:avLst/>
          </a:prstGeom>
          <a:noFill/>
          <a:ln/>
        </p:spPr>
        <p:txBody>
          <a:bodyPr wrap="square" lIns="0" tIns="0" rIns="0" bIns="0" rtlCol="0" anchor="ctr"/>
          <a:lstStyle/>
          <a:p>
            <a:pPr indent="0" marL="0">
              <a:buNone/>
            </a:pPr>
            <a:r>
              <a:rPr lang="en-US" sz="1300" dirty="0">
                <a:solidFill>
                  <a:schemeClr val="tx1"/>
                </a:solidFill>
              </a:rPr>
              <a:t>Geographic variation</a:t>
            </a:r>
            <a:endParaRPr lang="en-US" sz="1300" dirty="0"/>
          </a:p>
        </p:txBody>
      </p:sp>
      <p:sp>
        <p:nvSpPr>
          <p:cNvPr id="17" name="Aim dot 5"/>
          <p:cNvSpPr/>
          <p:nvPr/>
        </p:nvSpPr>
        <p:spPr>
          <a:xfrm>
            <a:off x="3840480" y="2807208"/>
            <a:ext cx="109728" cy="109728"/>
          </a:xfrm>
          <a:prstGeom prst="ellipse">
            <a:avLst/>
          </a:prstGeom>
          <a:solidFill>
            <a:schemeClr val="accent2"/>
          </a:solidFill>
          <a:ln w="12700">
            <a:solidFill>
              <a:schemeClr val="accent2"/>
            </a:solidFill>
            <a:prstDash val="solid"/>
          </a:ln>
        </p:spPr>
      </p:sp>
      <p:sp>
        <p:nvSpPr>
          <p:cNvPr id="18" name="Aim 5"/>
          <p:cNvSpPr txBox="1"/>
          <p:nvPr/>
        </p:nvSpPr>
        <p:spPr>
          <a:xfrm>
            <a:off x="4041648" y="2724912"/>
            <a:ext cx="2057400" cy="274320"/>
          </a:xfrm>
          <a:prstGeom prst="rect">
            <a:avLst/>
          </a:prstGeom>
          <a:noFill/>
          <a:ln/>
        </p:spPr>
        <p:txBody>
          <a:bodyPr wrap="square" lIns="0" tIns="0" rIns="0" bIns="0" rtlCol="0" anchor="ctr"/>
          <a:lstStyle/>
          <a:p>
            <a:pPr indent="0" marL="0">
              <a:buNone/>
            </a:pPr>
            <a:r>
              <a:rPr lang="en-US" sz="1300" dirty="0">
                <a:solidFill>
                  <a:schemeClr val="tx1"/>
                </a:solidFill>
              </a:rPr>
              <a:t>Transaction-level behaviour</a:t>
            </a:r>
            <a:endParaRPr lang="en-US" sz="1300" dirty="0"/>
          </a:p>
        </p:txBody>
      </p:sp>
      <p:sp>
        <p:nvSpPr>
          <p:cNvPr id="19" name="Aim dot 6"/>
          <p:cNvSpPr/>
          <p:nvPr/>
        </p:nvSpPr>
        <p:spPr>
          <a:xfrm>
            <a:off x="6172200" y="2807208"/>
            <a:ext cx="109728" cy="109728"/>
          </a:xfrm>
          <a:prstGeom prst="ellipse">
            <a:avLst/>
          </a:prstGeom>
          <a:solidFill>
            <a:schemeClr val="accent2"/>
          </a:solidFill>
          <a:ln w="12700">
            <a:solidFill>
              <a:schemeClr val="accent2"/>
            </a:solidFill>
            <a:prstDash val="solid"/>
          </a:ln>
        </p:spPr>
      </p:sp>
      <p:sp>
        <p:nvSpPr>
          <p:cNvPr id="20" name="Aim 6"/>
          <p:cNvSpPr txBox="1"/>
          <p:nvPr/>
        </p:nvSpPr>
        <p:spPr>
          <a:xfrm>
            <a:off x="6373368" y="2724912"/>
            <a:ext cx="2057400" cy="274320"/>
          </a:xfrm>
          <a:prstGeom prst="rect">
            <a:avLst/>
          </a:prstGeom>
          <a:noFill/>
          <a:ln/>
        </p:spPr>
        <p:txBody>
          <a:bodyPr wrap="square" lIns="0" tIns="0" rIns="0" bIns="0" rtlCol="0" anchor="ctr"/>
          <a:lstStyle/>
          <a:p>
            <a:pPr indent="0" marL="0">
              <a:buNone/>
            </a:pPr>
            <a:r>
              <a:rPr lang="en-US" sz="1300" dirty="0">
                <a:solidFill>
                  <a:schemeClr val="tx1"/>
                </a:solidFill>
              </a:rPr>
              <a:t>Statistical validation</a:t>
            </a:r>
            <a:endParaRPr lang="en-US" sz="1300" dirty="0"/>
          </a:p>
        </p:txBody>
      </p:sp>
      <p:sp>
        <p:nvSpPr>
          <p:cNvPr id="21" name="Step 1"/>
          <p:cNvSpPr/>
          <p:nvPr/>
        </p:nvSpPr>
        <p:spPr>
          <a:xfrm>
            <a:off x="457200" y="3429000"/>
            <a:ext cx="1481328" cy="685800"/>
          </a:xfrm>
          <a:prstGeom prst="roundRect">
            <a:avLst>
              <a:gd name="adj" fmla="val 10667"/>
            </a:avLst>
          </a:prstGeom>
          <a:solidFill>
            <a:schemeClr val="tx1"/>
          </a:solidFill>
          <a:ln/>
        </p:spPr>
        <p:txBody>
          <a:bodyPr wrap="square" lIns="50800" tIns="50800" rIns="50800" bIns="50800" rtlCol="0" anchor="ctr"/>
          <a:lstStyle/>
          <a:p>
            <a:pPr algn="ctr" indent="0" marL="0">
              <a:buNone/>
            </a:pPr>
            <a:r>
              <a:rPr lang="en-US" sz="1300" b="1" dirty="0">
                <a:solidFill>
                  <a:schemeClr val="bg1"/>
                </a:solidFill>
              </a:rPr>
              <a:t>Data Cleaning</a:t>
            </a:r>
            <a:endParaRPr lang="en-US" sz="1300" dirty="0"/>
          </a:p>
        </p:txBody>
      </p:sp>
      <p:sp>
        <p:nvSpPr>
          <p:cNvPr id="22" name="Arrow 1"/>
          <p:cNvSpPr txBox="1"/>
          <p:nvPr/>
        </p:nvSpPr>
        <p:spPr>
          <a:xfrm>
            <a:off x="1938528" y="3429000"/>
            <a:ext cx="205740" cy="685800"/>
          </a:xfrm>
          <a:prstGeom prst="rect">
            <a:avLst/>
          </a:prstGeom>
          <a:noFill/>
          <a:ln/>
        </p:spPr>
        <p:txBody>
          <a:bodyPr wrap="square" lIns="0" tIns="0" rIns="0" bIns="0" rtlCol="0" anchor="ctr"/>
          <a:lstStyle/>
          <a:p>
            <a:pPr algn="ctr" indent="0" marL="0">
              <a:buNone/>
            </a:pPr>
            <a:r>
              <a:rPr lang="en-US" sz="2200" b="1" dirty="0">
                <a:solidFill>
                  <a:schemeClr val="accent4"/>
                </a:solidFill>
              </a:rPr>
              <a:t>›</a:t>
            </a:r>
            <a:endParaRPr lang="en-US" sz="2200" dirty="0"/>
          </a:p>
        </p:txBody>
      </p:sp>
      <p:sp>
        <p:nvSpPr>
          <p:cNvPr id="23" name="Step 2"/>
          <p:cNvSpPr/>
          <p:nvPr/>
        </p:nvSpPr>
        <p:spPr>
          <a:xfrm>
            <a:off x="2144268" y="3429000"/>
            <a:ext cx="1481328" cy="685800"/>
          </a:xfrm>
          <a:prstGeom prst="roundRect">
            <a:avLst>
              <a:gd name="adj" fmla="val 10667"/>
            </a:avLst>
          </a:prstGeom>
          <a:solidFill>
            <a:schemeClr val="tx1"/>
          </a:solidFill>
          <a:ln/>
        </p:spPr>
        <p:txBody>
          <a:bodyPr wrap="square" lIns="50800" tIns="50800" rIns="50800" bIns="50800" rtlCol="0" anchor="ctr"/>
          <a:lstStyle/>
          <a:p>
            <a:pPr algn="ctr" indent="0" marL="0">
              <a:buNone/>
            </a:pPr>
            <a:r>
              <a:rPr lang="en-US" sz="1300" b="1" dirty="0">
                <a:solidFill>
                  <a:schemeClr val="bg1"/>
                </a:solidFill>
              </a:rPr>
              <a:t>Exploratory Analysis</a:t>
            </a:r>
            <a:endParaRPr lang="en-US" sz="1300" dirty="0"/>
          </a:p>
        </p:txBody>
      </p:sp>
      <p:sp>
        <p:nvSpPr>
          <p:cNvPr id="24" name="Arrow 2"/>
          <p:cNvSpPr txBox="1"/>
          <p:nvPr/>
        </p:nvSpPr>
        <p:spPr>
          <a:xfrm>
            <a:off x="3625596" y="3429000"/>
            <a:ext cx="205740" cy="685800"/>
          </a:xfrm>
          <a:prstGeom prst="rect">
            <a:avLst/>
          </a:prstGeom>
          <a:noFill/>
          <a:ln/>
        </p:spPr>
        <p:txBody>
          <a:bodyPr wrap="square" lIns="0" tIns="0" rIns="0" bIns="0" rtlCol="0" anchor="ctr"/>
          <a:lstStyle/>
          <a:p>
            <a:pPr algn="ctr" indent="0" marL="0">
              <a:buNone/>
            </a:pPr>
            <a:r>
              <a:rPr lang="en-US" sz="2200" b="1" dirty="0">
                <a:solidFill>
                  <a:schemeClr val="accent4"/>
                </a:solidFill>
              </a:rPr>
              <a:t>›</a:t>
            </a:r>
            <a:endParaRPr lang="en-US" sz="2200" dirty="0"/>
          </a:p>
        </p:txBody>
      </p:sp>
      <p:sp>
        <p:nvSpPr>
          <p:cNvPr id="25" name="Step 3"/>
          <p:cNvSpPr/>
          <p:nvPr/>
        </p:nvSpPr>
        <p:spPr>
          <a:xfrm>
            <a:off x="3831336" y="3429000"/>
            <a:ext cx="1481328" cy="685800"/>
          </a:xfrm>
          <a:prstGeom prst="roundRect">
            <a:avLst>
              <a:gd name="adj" fmla="val 10667"/>
            </a:avLst>
          </a:prstGeom>
          <a:solidFill>
            <a:schemeClr val="tx1"/>
          </a:solidFill>
          <a:ln/>
        </p:spPr>
        <p:txBody>
          <a:bodyPr wrap="square" lIns="50800" tIns="50800" rIns="50800" bIns="50800" rtlCol="0" anchor="ctr"/>
          <a:lstStyle/>
          <a:p>
            <a:pPr algn="ctr" indent="0" marL="0">
              <a:buNone/>
            </a:pPr>
            <a:r>
              <a:rPr lang="en-US" sz="1300" b="1" dirty="0">
                <a:solidFill>
                  <a:schemeClr val="bg1"/>
                </a:solidFill>
              </a:rPr>
              <a:t>Business Intelligence</a:t>
            </a:r>
            <a:endParaRPr lang="en-US" sz="1300" dirty="0"/>
          </a:p>
        </p:txBody>
      </p:sp>
      <p:sp>
        <p:nvSpPr>
          <p:cNvPr id="26" name="Arrow 3"/>
          <p:cNvSpPr txBox="1"/>
          <p:nvPr/>
        </p:nvSpPr>
        <p:spPr>
          <a:xfrm>
            <a:off x="5312664" y="3429000"/>
            <a:ext cx="205740" cy="685800"/>
          </a:xfrm>
          <a:prstGeom prst="rect">
            <a:avLst/>
          </a:prstGeom>
          <a:noFill/>
          <a:ln/>
        </p:spPr>
        <p:txBody>
          <a:bodyPr wrap="square" lIns="0" tIns="0" rIns="0" bIns="0" rtlCol="0" anchor="ctr"/>
          <a:lstStyle/>
          <a:p>
            <a:pPr algn="ctr" indent="0" marL="0">
              <a:buNone/>
            </a:pPr>
            <a:r>
              <a:rPr lang="en-US" sz="2200" b="1" dirty="0">
                <a:solidFill>
                  <a:schemeClr val="accent4"/>
                </a:solidFill>
              </a:rPr>
              <a:t>›</a:t>
            </a:r>
            <a:endParaRPr lang="en-US" sz="2200" dirty="0"/>
          </a:p>
        </p:txBody>
      </p:sp>
      <p:sp>
        <p:nvSpPr>
          <p:cNvPr id="27" name="Step 4"/>
          <p:cNvSpPr/>
          <p:nvPr/>
        </p:nvSpPr>
        <p:spPr>
          <a:xfrm>
            <a:off x="5518404" y="3429000"/>
            <a:ext cx="1481328" cy="685800"/>
          </a:xfrm>
          <a:prstGeom prst="roundRect">
            <a:avLst>
              <a:gd name="adj" fmla="val 10667"/>
            </a:avLst>
          </a:prstGeom>
          <a:solidFill>
            <a:schemeClr val="tx1"/>
          </a:solidFill>
          <a:ln/>
        </p:spPr>
        <p:txBody>
          <a:bodyPr wrap="square" lIns="50800" tIns="50800" rIns="50800" bIns="50800" rtlCol="0" anchor="ctr"/>
          <a:lstStyle/>
          <a:p>
            <a:pPr algn="ctr" indent="0" marL="0">
              <a:buNone/>
            </a:pPr>
            <a:r>
              <a:rPr lang="en-US" sz="1300" b="1" dirty="0">
                <a:solidFill>
                  <a:schemeClr val="bg1"/>
                </a:solidFill>
              </a:rPr>
              <a:t>Statistical Validation</a:t>
            </a:r>
            <a:endParaRPr lang="en-US" sz="1300" dirty="0"/>
          </a:p>
        </p:txBody>
      </p:sp>
      <p:sp>
        <p:nvSpPr>
          <p:cNvPr id="28" name="Arrow 4"/>
          <p:cNvSpPr txBox="1"/>
          <p:nvPr/>
        </p:nvSpPr>
        <p:spPr>
          <a:xfrm>
            <a:off x="6999732" y="3429000"/>
            <a:ext cx="205740" cy="685800"/>
          </a:xfrm>
          <a:prstGeom prst="rect">
            <a:avLst/>
          </a:prstGeom>
          <a:noFill/>
          <a:ln/>
        </p:spPr>
        <p:txBody>
          <a:bodyPr wrap="square" lIns="0" tIns="0" rIns="0" bIns="0" rtlCol="0" anchor="ctr"/>
          <a:lstStyle/>
          <a:p>
            <a:pPr algn="ctr" indent="0" marL="0">
              <a:buNone/>
            </a:pPr>
            <a:r>
              <a:rPr lang="en-US" sz="2200" b="1" dirty="0">
                <a:solidFill>
                  <a:schemeClr val="accent4"/>
                </a:solidFill>
              </a:rPr>
              <a:t>›</a:t>
            </a:r>
            <a:endParaRPr lang="en-US" sz="2200" dirty="0"/>
          </a:p>
        </p:txBody>
      </p:sp>
      <p:sp>
        <p:nvSpPr>
          <p:cNvPr id="29" name="Step 5"/>
          <p:cNvSpPr/>
          <p:nvPr/>
        </p:nvSpPr>
        <p:spPr>
          <a:xfrm>
            <a:off x="7205472" y="3429000"/>
            <a:ext cx="1481328" cy="685800"/>
          </a:xfrm>
          <a:prstGeom prst="roundRect">
            <a:avLst>
              <a:gd name="adj" fmla="val 10667"/>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rPr>
              <a:t>Business Recommendations</a:t>
            </a:r>
            <a:endParaRPr lang="en-US" sz="1300" dirty="0"/>
          </a:p>
        </p:txBody>
      </p:sp>
      <p:sp>
        <p:nvSpPr>
          <p:cNvPr id="30" name="Dataset facts"/>
          <p:cNvSpPr txBox="1"/>
          <p:nvPr/>
        </p:nvSpPr>
        <p:spPr>
          <a:xfrm>
            <a:off x="457200" y="4297680"/>
            <a:ext cx="8229600" cy="274320"/>
          </a:xfrm>
          <a:prstGeom prst="rect">
            <a:avLst/>
          </a:prstGeom>
          <a:noFill/>
          <a:ln/>
        </p:spPr>
        <p:txBody>
          <a:bodyPr wrap="square" lIns="0" tIns="0" rIns="0" bIns="0" rtlCol="0" anchor="ctr"/>
          <a:lstStyle/>
          <a:p>
            <a:pPr algn="ctr" indent="0" marL="0">
              <a:buNone/>
            </a:pPr>
            <a:r>
              <a:rPr lang="en-US" sz="1200" dirty="0">
                <a:solidFill>
                  <a:schemeClr val="accent4"/>
                </a:solidFill>
              </a:rPr>
              <a:t>1,000 records  ·  12 columns  ·  January 2025 to January 2026  ·  0 missing values  ·  0 duplicate rows</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Overall Sales Performance</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Substantial sales volume across the analysed period</a:t>
            </a:r>
            <a:endParaRPr lang="en-US" sz="1400" dirty="0"/>
          </a:p>
        </p:txBody>
      </p:sp>
      <p:sp>
        <p:nvSpPr>
          <p:cNvPr id="4" name="KPI card TOTAL SALES"/>
          <p:cNvSpPr/>
          <p:nvPr/>
        </p:nvSpPr>
        <p:spPr>
          <a:xfrm>
            <a:off x="457200" y="137160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KPI label TOTAL SALES"/>
          <p:cNvSpPr txBox="1"/>
          <p:nvPr/>
        </p:nvSpPr>
        <p:spPr>
          <a:xfrm>
            <a:off x="640080" y="1554480"/>
            <a:ext cx="21945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TOTAL SALES</a:t>
            </a:r>
            <a:endParaRPr lang="en-US" sz="1100" dirty="0"/>
          </a:p>
        </p:txBody>
      </p:sp>
      <p:sp>
        <p:nvSpPr>
          <p:cNvPr id="6" name="KPI value TOTAL SALES"/>
          <p:cNvSpPr txBox="1"/>
          <p:nvPr/>
        </p:nvSpPr>
        <p:spPr>
          <a:xfrm>
            <a:off x="640080" y="1874520"/>
            <a:ext cx="2194560" cy="548640"/>
          </a:xfrm>
          <a:prstGeom prst="rect">
            <a:avLst/>
          </a:prstGeom>
          <a:noFill/>
          <a:ln/>
        </p:spPr>
        <p:txBody>
          <a:bodyPr wrap="square" lIns="0" tIns="0" rIns="0" bIns="0" rtlCol="0" anchor="ctr"/>
          <a:lstStyle/>
          <a:p>
            <a:pPr indent="0" marL="0">
              <a:buNone/>
            </a:pPr>
            <a:r>
              <a:rPr lang="en-US" sz="3400" b="1" dirty="0">
                <a:solidFill>
                  <a:schemeClr val="tx1"/>
                </a:solidFill>
              </a:rPr>
              <a:t>₹139.4M</a:t>
            </a:r>
            <a:endParaRPr lang="en-US" sz="3400" dirty="0"/>
          </a:p>
        </p:txBody>
      </p:sp>
      <p:sp>
        <p:nvSpPr>
          <p:cNvPr id="7" name="KPI note TOTAL SALES"/>
          <p:cNvSpPr txBox="1"/>
          <p:nvPr/>
        </p:nvSpPr>
        <p:spPr>
          <a:xfrm>
            <a:off x="640080" y="2468880"/>
            <a:ext cx="2194560" cy="228600"/>
          </a:xfrm>
          <a:prstGeom prst="rect">
            <a:avLst/>
          </a:prstGeom>
          <a:noFill/>
          <a:ln/>
        </p:spPr>
        <p:txBody>
          <a:bodyPr wrap="square" lIns="0" tIns="0" rIns="0" bIns="0" rtlCol="0" anchor="ctr"/>
          <a:lstStyle/>
          <a:p>
            <a:pPr indent="0" marL="0">
              <a:buNone/>
            </a:pPr>
            <a:r>
              <a:rPr lang="en-US" sz="1200" dirty="0">
                <a:solidFill>
                  <a:schemeClr val="accent4"/>
                </a:solidFill>
              </a:rPr>
              <a:t>approximate total</a:t>
            </a:r>
            <a:endParaRPr lang="en-US" sz="1200" dirty="0"/>
          </a:p>
        </p:txBody>
      </p:sp>
      <p:sp>
        <p:nvSpPr>
          <p:cNvPr id="8" name="KPI card TOTAL QUANTITY SOLD"/>
          <p:cNvSpPr/>
          <p:nvPr/>
        </p:nvSpPr>
        <p:spPr>
          <a:xfrm>
            <a:off x="3291840" y="137160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KPI label TOTAL QUANTITY SOLD"/>
          <p:cNvSpPr txBox="1"/>
          <p:nvPr/>
        </p:nvSpPr>
        <p:spPr>
          <a:xfrm>
            <a:off x="3474720" y="1554480"/>
            <a:ext cx="21945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TOTAL QUANTITY SOLD</a:t>
            </a:r>
            <a:endParaRPr lang="en-US" sz="1100" dirty="0"/>
          </a:p>
        </p:txBody>
      </p:sp>
      <p:sp>
        <p:nvSpPr>
          <p:cNvPr id="10" name="KPI value TOTAL QUANTITY SOLD"/>
          <p:cNvSpPr txBox="1"/>
          <p:nvPr/>
        </p:nvSpPr>
        <p:spPr>
          <a:xfrm>
            <a:off x="3474720" y="1874520"/>
            <a:ext cx="2194560" cy="548640"/>
          </a:xfrm>
          <a:prstGeom prst="rect">
            <a:avLst/>
          </a:prstGeom>
          <a:noFill/>
          <a:ln/>
        </p:spPr>
        <p:txBody>
          <a:bodyPr wrap="square" lIns="0" tIns="0" rIns="0" bIns="0" rtlCol="0" anchor="ctr"/>
          <a:lstStyle/>
          <a:p>
            <a:pPr indent="0" marL="0">
              <a:buNone/>
            </a:pPr>
            <a:r>
              <a:rPr lang="en-US" sz="3400" b="1" dirty="0">
                <a:solidFill>
                  <a:schemeClr val="tx1"/>
                </a:solidFill>
              </a:rPr>
              <a:t>5,435</a:t>
            </a:r>
            <a:endParaRPr lang="en-US" sz="3400" dirty="0"/>
          </a:p>
        </p:txBody>
      </p:sp>
      <p:sp>
        <p:nvSpPr>
          <p:cNvPr id="11" name="KPI note TOTAL QUANTITY SOLD"/>
          <p:cNvSpPr txBox="1"/>
          <p:nvPr/>
        </p:nvSpPr>
        <p:spPr>
          <a:xfrm>
            <a:off x="3474720" y="2468880"/>
            <a:ext cx="2194560" cy="228600"/>
          </a:xfrm>
          <a:prstGeom prst="rect">
            <a:avLst/>
          </a:prstGeom>
          <a:noFill/>
          <a:ln/>
        </p:spPr>
        <p:txBody>
          <a:bodyPr wrap="square" lIns="0" tIns="0" rIns="0" bIns="0" rtlCol="0" anchor="ctr"/>
          <a:lstStyle/>
          <a:p>
            <a:pPr indent="0" marL="0">
              <a:buNone/>
            </a:pPr>
            <a:r>
              <a:rPr lang="en-US" sz="1200" dirty="0">
                <a:solidFill>
                  <a:schemeClr val="accent4"/>
                </a:solidFill>
              </a:rPr>
              <a:t>units</a:t>
            </a:r>
            <a:endParaRPr lang="en-US" sz="1200" dirty="0"/>
          </a:p>
        </p:txBody>
      </p:sp>
      <p:sp>
        <p:nvSpPr>
          <p:cNvPr id="12" name="KPI card UNIQUE CUSTOMERS"/>
          <p:cNvSpPr/>
          <p:nvPr/>
        </p:nvSpPr>
        <p:spPr>
          <a:xfrm>
            <a:off x="6126480" y="137160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KPI label UNIQUE CUSTOMERS"/>
          <p:cNvSpPr txBox="1"/>
          <p:nvPr/>
        </p:nvSpPr>
        <p:spPr>
          <a:xfrm>
            <a:off x="6309360" y="1554480"/>
            <a:ext cx="21945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UNIQUE CUSTOMERS</a:t>
            </a:r>
            <a:endParaRPr lang="en-US" sz="1100" dirty="0"/>
          </a:p>
        </p:txBody>
      </p:sp>
      <p:sp>
        <p:nvSpPr>
          <p:cNvPr id="14" name="KPI value UNIQUE CUSTOMERS"/>
          <p:cNvSpPr txBox="1"/>
          <p:nvPr/>
        </p:nvSpPr>
        <p:spPr>
          <a:xfrm>
            <a:off x="6309360" y="1874520"/>
            <a:ext cx="2194560" cy="548640"/>
          </a:xfrm>
          <a:prstGeom prst="rect">
            <a:avLst/>
          </a:prstGeom>
          <a:noFill/>
          <a:ln/>
        </p:spPr>
        <p:txBody>
          <a:bodyPr wrap="square" lIns="0" tIns="0" rIns="0" bIns="0" rtlCol="0" anchor="ctr"/>
          <a:lstStyle/>
          <a:p>
            <a:pPr indent="0" marL="0">
              <a:buNone/>
            </a:pPr>
            <a:r>
              <a:rPr lang="en-US" sz="3400" b="1" dirty="0">
                <a:solidFill>
                  <a:schemeClr val="tx1"/>
                </a:solidFill>
              </a:rPr>
              <a:t>947</a:t>
            </a:r>
            <a:endParaRPr lang="en-US" sz="3400" dirty="0"/>
          </a:p>
        </p:txBody>
      </p:sp>
      <p:sp>
        <p:nvSpPr>
          <p:cNvPr id="15" name="KPI note UNIQUE CUSTOMERS"/>
          <p:cNvSpPr txBox="1"/>
          <p:nvPr/>
        </p:nvSpPr>
        <p:spPr>
          <a:xfrm>
            <a:off x="6309360" y="2468880"/>
            <a:ext cx="2194560" cy="228600"/>
          </a:xfrm>
          <a:prstGeom prst="rect">
            <a:avLst/>
          </a:prstGeom>
          <a:noFill/>
          <a:ln/>
        </p:spPr>
        <p:txBody>
          <a:bodyPr wrap="square" lIns="0" tIns="0" rIns="0" bIns="0" rtlCol="0" anchor="ctr"/>
          <a:lstStyle/>
          <a:p>
            <a:pPr indent="0" marL="0">
              <a:buNone/>
            </a:pPr>
            <a:r>
              <a:rPr lang="en-US" sz="1200" dirty="0">
                <a:solidFill>
                  <a:schemeClr val="accent4"/>
                </a:solidFill>
              </a:rPr>
              <a:t>distinct customers</a:t>
            </a:r>
            <a:endParaRPr lang="en-US" sz="1200" dirty="0"/>
          </a:p>
        </p:txBody>
      </p:sp>
      <p:sp>
        <p:nvSpPr>
          <p:cNvPr id="16" name="KPI card UNIQUE ORDERS"/>
          <p:cNvSpPr/>
          <p:nvPr/>
        </p:nvSpPr>
        <p:spPr>
          <a:xfrm>
            <a:off x="457200" y="315468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7" name="KPI label UNIQUE ORDERS"/>
          <p:cNvSpPr txBox="1"/>
          <p:nvPr/>
        </p:nvSpPr>
        <p:spPr>
          <a:xfrm>
            <a:off x="640080" y="3337560"/>
            <a:ext cx="21945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UNIQUE ORDERS</a:t>
            </a:r>
            <a:endParaRPr lang="en-US" sz="1100" dirty="0"/>
          </a:p>
        </p:txBody>
      </p:sp>
      <p:sp>
        <p:nvSpPr>
          <p:cNvPr id="18" name="KPI value UNIQUE ORDERS"/>
          <p:cNvSpPr txBox="1"/>
          <p:nvPr/>
        </p:nvSpPr>
        <p:spPr>
          <a:xfrm>
            <a:off x="640080" y="3657600"/>
            <a:ext cx="2194560" cy="548640"/>
          </a:xfrm>
          <a:prstGeom prst="rect">
            <a:avLst/>
          </a:prstGeom>
          <a:noFill/>
          <a:ln/>
        </p:spPr>
        <p:txBody>
          <a:bodyPr wrap="square" lIns="0" tIns="0" rIns="0" bIns="0" rtlCol="0" anchor="ctr"/>
          <a:lstStyle/>
          <a:p>
            <a:pPr indent="0" marL="0">
              <a:buNone/>
            </a:pPr>
            <a:r>
              <a:rPr lang="en-US" sz="3400" b="1" dirty="0">
                <a:solidFill>
                  <a:schemeClr val="tx1"/>
                </a:solidFill>
              </a:rPr>
              <a:t>992</a:t>
            </a:r>
            <a:endParaRPr lang="en-US" sz="3400" dirty="0"/>
          </a:p>
        </p:txBody>
      </p:sp>
      <p:sp>
        <p:nvSpPr>
          <p:cNvPr id="19" name="KPI note UNIQUE ORDERS"/>
          <p:cNvSpPr txBox="1"/>
          <p:nvPr/>
        </p:nvSpPr>
        <p:spPr>
          <a:xfrm>
            <a:off x="640080" y="4251960"/>
            <a:ext cx="2194560" cy="228600"/>
          </a:xfrm>
          <a:prstGeom prst="rect">
            <a:avLst/>
          </a:prstGeom>
          <a:noFill/>
          <a:ln/>
        </p:spPr>
        <p:txBody>
          <a:bodyPr wrap="square" lIns="0" tIns="0" rIns="0" bIns="0" rtlCol="0" anchor="ctr"/>
          <a:lstStyle/>
          <a:p>
            <a:pPr indent="0" marL="0">
              <a:buNone/>
            </a:pPr>
            <a:r>
              <a:rPr lang="en-US" sz="1200" dirty="0">
                <a:solidFill>
                  <a:schemeClr val="accent4"/>
                </a:solidFill>
              </a:rPr>
              <a:t>distinct Order IDs</a:t>
            </a:r>
            <a:endParaRPr lang="en-US" sz="1200" dirty="0"/>
          </a:p>
        </p:txBody>
      </p:sp>
      <p:sp>
        <p:nvSpPr>
          <p:cNvPr id="20" name="KPI card AVERAGE ORDER VALUE"/>
          <p:cNvSpPr/>
          <p:nvPr/>
        </p:nvSpPr>
        <p:spPr>
          <a:xfrm>
            <a:off x="3291840" y="315468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KPI label AVERAGE ORDER VALUE"/>
          <p:cNvSpPr txBox="1"/>
          <p:nvPr/>
        </p:nvSpPr>
        <p:spPr>
          <a:xfrm>
            <a:off x="3474720" y="3337560"/>
            <a:ext cx="21945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AVERAGE ORDER VALUE</a:t>
            </a:r>
            <a:endParaRPr lang="en-US" sz="1100" dirty="0"/>
          </a:p>
        </p:txBody>
      </p:sp>
      <p:sp>
        <p:nvSpPr>
          <p:cNvPr id="22" name="KPI value AVERAGE ORDER VALUE"/>
          <p:cNvSpPr txBox="1"/>
          <p:nvPr/>
        </p:nvSpPr>
        <p:spPr>
          <a:xfrm>
            <a:off x="3474720" y="3657600"/>
            <a:ext cx="2194560" cy="548640"/>
          </a:xfrm>
          <a:prstGeom prst="rect">
            <a:avLst/>
          </a:prstGeom>
          <a:noFill/>
          <a:ln/>
        </p:spPr>
        <p:txBody>
          <a:bodyPr wrap="square" lIns="0" tIns="0" rIns="0" bIns="0" rtlCol="0" anchor="ctr"/>
          <a:lstStyle/>
          <a:p>
            <a:pPr indent="0" marL="0">
              <a:buNone/>
            </a:pPr>
            <a:r>
              <a:rPr lang="en-US" sz="3400" b="1" dirty="0">
                <a:solidFill>
                  <a:schemeClr val="tx1"/>
                </a:solidFill>
              </a:rPr>
              <a:t>₹140,523.63</a:t>
            </a:r>
            <a:endParaRPr lang="en-US" sz="3400" dirty="0"/>
          </a:p>
        </p:txBody>
      </p:sp>
      <p:sp>
        <p:nvSpPr>
          <p:cNvPr id="23" name="KPI note AVERAGE ORDER VALUE"/>
          <p:cNvSpPr txBox="1"/>
          <p:nvPr/>
        </p:nvSpPr>
        <p:spPr>
          <a:xfrm>
            <a:off x="3474720" y="4251960"/>
            <a:ext cx="2194560" cy="228600"/>
          </a:xfrm>
          <a:prstGeom prst="rect">
            <a:avLst/>
          </a:prstGeom>
          <a:noFill/>
          <a:ln/>
        </p:spPr>
        <p:txBody>
          <a:bodyPr wrap="square" lIns="0" tIns="0" rIns="0" bIns="0" rtlCol="0" anchor="ctr"/>
          <a:lstStyle/>
          <a:p>
            <a:pPr indent="0" marL="0">
              <a:buNone/>
            </a:pPr>
            <a:r>
              <a:rPr lang="en-US" sz="1200" dirty="0">
                <a:solidFill>
                  <a:schemeClr val="accent4"/>
                </a:solidFill>
              </a:rPr>
              <a:t>based on unique Order IDs</a:t>
            </a:r>
            <a:endParaRPr lang="en-US" sz="1200" dirty="0"/>
          </a:p>
        </p:txBody>
      </p:sp>
      <p:sp>
        <p:nvSpPr>
          <p:cNvPr id="24" name="Insight card"/>
          <p:cNvSpPr/>
          <p:nvPr/>
        </p:nvSpPr>
        <p:spPr>
          <a:xfrm>
            <a:off x="6126480" y="3154680"/>
            <a:ext cx="2560320" cy="1508760"/>
          </a:xfrm>
          <a:prstGeom prst="roundRect">
            <a:avLst>
              <a:gd name="adj" fmla="val 4848"/>
            </a:avLst>
          </a:prstGeom>
          <a:solidFill>
            <a:schemeClr val="tx1"/>
          </a:solidFill>
          <a:ln w="12700">
            <a:solidFill>
              <a:schemeClr val="tx1"/>
            </a:solidFill>
            <a:prstDash val="solid"/>
          </a:ln>
        </p:spPr>
      </p:sp>
      <p:sp>
        <p:nvSpPr>
          <p:cNvPr id="25" name="Insight label"/>
          <p:cNvSpPr txBox="1"/>
          <p:nvPr/>
        </p:nvSpPr>
        <p:spPr>
          <a:xfrm>
            <a:off x="6309360" y="3310128"/>
            <a:ext cx="219456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EXECUTIVE INSIGHT</a:t>
            </a:r>
            <a:endParaRPr lang="en-US" sz="1100" dirty="0"/>
          </a:p>
        </p:txBody>
      </p:sp>
      <p:sp>
        <p:nvSpPr>
          <p:cNvPr id="26" name="Insight text"/>
          <p:cNvSpPr txBox="1"/>
          <p:nvPr/>
        </p:nvSpPr>
        <p:spPr>
          <a:xfrm>
            <a:off x="6309360" y="3611880"/>
            <a:ext cx="2194560" cy="960120"/>
          </a:xfrm>
          <a:prstGeom prst="rect">
            <a:avLst/>
          </a:prstGeom>
          <a:noFill/>
          <a:ln/>
        </p:spPr>
        <p:txBody>
          <a:bodyPr wrap="square" lIns="0" tIns="0" rIns="0" bIns="0" rtlCol="0" anchor="t"/>
          <a:lstStyle/>
          <a:p>
            <a:pPr indent="0" marL="0">
              <a:buNone/>
            </a:pPr>
            <a:r>
              <a:rPr lang="en-US" sz="1300" dirty="0">
                <a:solidFill>
                  <a:schemeClr val="bg1"/>
                </a:solidFill>
              </a:rPr>
              <a:t>A broad base of 947 customers placed 992 orders, generating a substantial sales volume across 1,000 records.</a:t>
            </a:r>
            <a:endParaRPr lang="en-US" sz="13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Customer Value Concentration</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A small group of High Value customers generates a disproportionately large share of revenue</a:t>
            </a:r>
            <a:endParaRPr lang="en-US" sz="1400" dirty="0"/>
          </a:p>
        </p:txBody>
      </p:sp>
      <p:sp>
        <p:nvSpPr>
          <p:cNvPr id="4" name="Chart: Sales contribution by customer segment card"/>
          <p:cNvSpPr/>
          <p:nvPr/>
        </p:nvSpPr>
        <p:spPr>
          <a:xfrm>
            <a:off x="457200" y="1325880"/>
            <a:ext cx="4572000" cy="2798021"/>
          </a:xfrm>
          <a:prstGeom prst="roundRect">
            <a:avLst>
              <a:gd name="adj" fmla="val 261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5" name="Chart: Sales contribution by customer segment" descr="Chart: Sales contribution by customer segment">    </p:cNvPr>
          <p:cNvPicPr>
            <a:picLocks noChangeAspect="1"/>
          </p:cNvPicPr>
          <p:nvPr/>
        </p:nvPicPr>
        <p:blipFill>
          <a:blip r:embed="rId1"/>
          <a:stretch>
            <a:fillRect/>
          </a:stretch>
        </p:blipFill>
        <p:spPr>
          <a:xfrm>
            <a:off x="548640" y="1417320"/>
            <a:ext cx="4389120" cy="2615141"/>
          </a:xfrm>
          <a:prstGeom prst="rect">
            <a:avLst/>
          </a:prstGeom>
        </p:spPr>
      </p:pic>
      <p:sp>
        <p:nvSpPr>
          <p:cNvPr id="6" name="Segment card High Value"/>
          <p:cNvSpPr/>
          <p:nvPr/>
        </p:nvSpPr>
        <p:spPr>
          <a:xfrm>
            <a:off x="5303520" y="1325880"/>
            <a:ext cx="3383280" cy="804672"/>
          </a:xfrm>
          <a:prstGeom prst="roundRect">
            <a:avLst>
              <a:gd name="adj" fmla="val 9091"/>
            </a:avLst>
          </a:prstGeom>
          <a:solidFill>
            <a:schemeClr val="tx1"/>
          </a:solidFill>
          <a:ln w="12700">
            <a:solidFill>
              <a:schemeClr val="tx1"/>
            </a:solidFill>
            <a:prstDash val="solid"/>
          </a:ln>
        </p:spPr>
      </p:sp>
      <p:sp>
        <p:nvSpPr>
          <p:cNvPr id="7" name="Segment value High Value"/>
          <p:cNvSpPr txBox="1"/>
          <p:nvPr/>
        </p:nvSpPr>
        <p:spPr>
          <a:xfrm>
            <a:off x="5468112" y="1325880"/>
            <a:ext cx="1234440" cy="804672"/>
          </a:xfrm>
          <a:prstGeom prst="rect">
            <a:avLst/>
          </a:prstGeom>
          <a:noFill/>
          <a:ln/>
        </p:spPr>
        <p:txBody>
          <a:bodyPr wrap="square" lIns="0" tIns="0" rIns="0" bIns="0" rtlCol="0" anchor="ctr"/>
          <a:lstStyle/>
          <a:p>
            <a:pPr indent="0" marL="0">
              <a:buNone/>
            </a:pPr>
            <a:r>
              <a:rPr lang="en-US" sz="3000" b="1" dirty="0">
                <a:solidFill>
                  <a:schemeClr val="accent2"/>
                </a:solidFill>
              </a:rPr>
              <a:t>≈55%</a:t>
            </a:r>
            <a:endParaRPr lang="en-US" sz="3000" dirty="0"/>
          </a:p>
        </p:txBody>
      </p:sp>
      <p:sp>
        <p:nvSpPr>
          <p:cNvPr id="8" name="Segment name High Value"/>
          <p:cNvSpPr txBox="1"/>
          <p:nvPr/>
        </p:nvSpPr>
        <p:spPr>
          <a:xfrm>
            <a:off x="6766560" y="1453896"/>
            <a:ext cx="1828800" cy="292608"/>
          </a:xfrm>
          <a:prstGeom prst="rect">
            <a:avLst/>
          </a:prstGeom>
          <a:noFill/>
          <a:ln/>
        </p:spPr>
        <p:txBody>
          <a:bodyPr wrap="square" lIns="0" tIns="0" rIns="0" bIns="0" rtlCol="0" anchor="ctr"/>
          <a:lstStyle/>
          <a:p>
            <a:pPr indent="0" marL="0">
              <a:buNone/>
            </a:pPr>
            <a:r>
              <a:rPr lang="en-US" sz="1500" b="1" dirty="0">
                <a:solidFill>
                  <a:schemeClr val="bg1"/>
                </a:solidFill>
              </a:rPr>
              <a:t>High Value</a:t>
            </a:r>
            <a:endParaRPr lang="en-US" sz="1500" dirty="0"/>
          </a:p>
        </p:txBody>
      </p:sp>
      <p:sp>
        <p:nvSpPr>
          <p:cNvPr id="9" name="Segment detail High Value"/>
          <p:cNvSpPr txBox="1"/>
          <p:nvPr/>
        </p:nvSpPr>
        <p:spPr>
          <a:xfrm>
            <a:off x="6766560" y="1746504"/>
            <a:ext cx="1828800" cy="274320"/>
          </a:xfrm>
          <a:prstGeom prst="rect">
            <a:avLst/>
          </a:prstGeom>
          <a:noFill/>
          <a:ln/>
        </p:spPr>
        <p:txBody>
          <a:bodyPr wrap="square" lIns="0" tIns="0" rIns="0" bIns="0" rtlCol="0" anchor="t"/>
          <a:lstStyle/>
          <a:p>
            <a:pPr indent="0" marL="0">
              <a:buNone/>
            </a:pPr>
            <a:r>
              <a:rPr lang="en-US" sz="1100" dirty="0">
                <a:solidFill>
                  <a:schemeClr val="accent5"/>
                </a:solidFill>
              </a:rPr>
              <a:t>of sales  ·  ≈25% of customers</a:t>
            </a:r>
            <a:endParaRPr lang="en-US" sz="1100" dirty="0"/>
          </a:p>
        </p:txBody>
      </p:sp>
      <p:sp>
        <p:nvSpPr>
          <p:cNvPr id="10" name="Segment card Medium Value"/>
          <p:cNvSpPr/>
          <p:nvPr/>
        </p:nvSpPr>
        <p:spPr>
          <a:xfrm>
            <a:off x="5303520" y="2240280"/>
            <a:ext cx="3383280" cy="804672"/>
          </a:xfrm>
          <a:prstGeom prst="roundRect">
            <a:avLst>
              <a:gd name="adj" fmla="val 909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Segment value Medium Value"/>
          <p:cNvSpPr txBox="1"/>
          <p:nvPr/>
        </p:nvSpPr>
        <p:spPr>
          <a:xfrm>
            <a:off x="5468112" y="2240280"/>
            <a:ext cx="1234440" cy="804672"/>
          </a:xfrm>
          <a:prstGeom prst="rect">
            <a:avLst/>
          </a:prstGeom>
          <a:noFill/>
          <a:ln/>
        </p:spPr>
        <p:txBody>
          <a:bodyPr wrap="square" lIns="0" tIns="0" rIns="0" bIns="0" rtlCol="0" anchor="ctr"/>
          <a:lstStyle/>
          <a:p>
            <a:pPr indent="0" marL="0">
              <a:buNone/>
            </a:pPr>
            <a:r>
              <a:rPr lang="en-US" sz="3000" b="1" dirty="0">
                <a:solidFill>
                  <a:schemeClr val="tx1"/>
                </a:solidFill>
              </a:rPr>
              <a:t>≈41%</a:t>
            </a:r>
            <a:endParaRPr lang="en-US" sz="3000" dirty="0"/>
          </a:p>
        </p:txBody>
      </p:sp>
      <p:sp>
        <p:nvSpPr>
          <p:cNvPr id="12" name="Segment name Medium Value"/>
          <p:cNvSpPr txBox="1"/>
          <p:nvPr/>
        </p:nvSpPr>
        <p:spPr>
          <a:xfrm>
            <a:off x="6766560" y="2368296"/>
            <a:ext cx="1828800" cy="292608"/>
          </a:xfrm>
          <a:prstGeom prst="rect">
            <a:avLst/>
          </a:prstGeom>
          <a:noFill/>
          <a:ln/>
        </p:spPr>
        <p:txBody>
          <a:bodyPr wrap="square" lIns="0" tIns="0" rIns="0" bIns="0" rtlCol="0" anchor="ctr"/>
          <a:lstStyle/>
          <a:p>
            <a:pPr indent="0" marL="0">
              <a:buNone/>
            </a:pPr>
            <a:r>
              <a:rPr lang="en-US" sz="1500" b="1" dirty="0">
                <a:solidFill>
                  <a:schemeClr val="tx1"/>
                </a:solidFill>
              </a:rPr>
              <a:t>Medium Value</a:t>
            </a:r>
            <a:endParaRPr lang="en-US" sz="1500" dirty="0"/>
          </a:p>
        </p:txBody>
      </p:sp>
      <p:sp>
        <p:nvSpPr>
          <p:cNvPr id="13" name="Segment detail Medium Value"/>
          <p:cNvSpPr txBox="1"/>
          <p:nvPr/>
        </p:nvSpPr>
        <p:spPr>
          <a:xfrm>
            <a:off x="6766560" y="2660904"/>
            <a:ext cx="1828800" cy="274320"/>
          </a:xfrm>
          <a:prstGeom prst="rect">
            <a:avLst/>
          </a:prstGeom>
          <a:noFill/>
          <a:ln/>
        </p:spPr>
        <p:txBody>
          <a:bodyPr wrap="square" lIns="0" tIns="0" rIns="0" bIns="0" rtlCol="0" anchor="t"/>
          <a:lstStyle/>
          <a:p>
            <a:pPr indent="0" marL="0">
              <a:buNone/>
            </a:pPr>
            <a:r>
              <a:rPr lang="en-US" sz="1100" dirty="0">
                <a:solidFill>
                  <a:schemeClr val="accent4"/>
                </a:solidFill>
              </a:rPr>
              <a:t>of sales  ·  ≈50% of customers</a:t>
            </a:r>
            <a:endParaRPr lang="en-US" sz="1100" dirty="0"/>
          </a:p>
        </p:txBody>
      </p:sp>
      <p:sp>
        <p:nvSpPr>
          <p:cNvPr id="14" name="Segment card Low Value"/>
          <p:cNvSpPr/>
          <p:nvPr/>
        </p:nvSpPr>
        <p:spPr>
          <a:xfrm>
            <a:off x="5303520" y="3154680"/>
            <a:ext cx="3383280" cy="804672"/>
          </a:xfrm>
          <a:prstGeom prst="roundRect">
            <a:avLst>
              <a:gd name="adj" fmla="val 909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Segment value Low Value"/>
          <p:cNvSpPr txBox="1"/>
          <p:nvPr/>
        </p:nvSpPr>
        <p:spPr>
          <a:xfrm>
            <a:off x="5468112" y="3154680"/>
            <a:ext cx="1234440" cy="804672"/>
          </a:xfrm>
          <a:prstGeom prst="rect">
            <a:avLst/>
          </a:prstGeom>
          <a:noFill/>
          <a:ln/>
        </p:spPr>
        <p:txBody>
          <a:bodyPr wrap="square" lIns="0" tIns="0" rIns="0" bIns="0" rtlCol="0" anchor="ctr"/>
          <a:lstStyle/>
          <a:p>
            <a:pPr indent="0" marL="0">
              <a:buNone/>
            </a:pPr>
            <a:r>
              <a:rPr lang="en-US" sz="3000" b="1" dirty="0">
                <a:solidFill>
                  <a:schemeClr val="tx1"/>
                </a:solidFill>
              </a:rPr>
              <a:t>≈4%</a:t>
            </a:r>
            <a:endParaRPr lang="en-US" sz="3000" dirty="0"/>
          </a:p>
        </p:txBody>
      </p:sp>
      <p:sp>
        <p:nvSpPr>
          <p:cNvPr id="16" name="Segment name Low Value"/>
          <p:cNvSpPr txBox="1"/>
          <p:nvPr/>
        </p:nvSpPr>
        <p:spPr>
          <a:xfrm>
            <a:off x="6766560" y="3282696"/>
            <a:ext cx="1828800" cy="292608"/>
          </a:xfrm>
          <a:prstGeom prst="rect">
            <a:avLst/>
          </a:prstGeom>
          <a:noFill/>
          <a:ln/>
        </p:spPr>
        <p:txBody>
          <a:bodyPr wrap="square" lIns="0" tIns="0" rIns="0" bIns="0" rtlCol="0" anchor="ctr"/>
          <a:lstStyle/>
          <a:p>
            <a:pPr indent="0" marL="0">
              <a:buNone/>
            </a:pPr>
            <a:r>
              <a:rPr lang="en-US" sz="1500" b="1" dirty="0">
                <a:solidFill>
                  <a:schemeClr val="tx1"/>
                </a:solidFill>
              </a:rPr>
              <a:t>Low Value</a:t>
            </a:r>
            <a:endParaRPr lang="en-US" sz="1500" dirty="0"/>
          </a:p>
        </p:txBody>
      </p:sp>
      <p:sp>
        <p:nvSpPr>
          <p:cNvPr id="17" name="Segment detail Low Value"/>
          <p:cNvSpPr txBox="1"/>
          <p:nvPr/>
        </p:nvSpPr>
        <p:spPr>
          <a:xfrm>
            <a:off x="6766560" y="3575304"/>
            <a:ext cx="1828800" cy="274320"/>
          </a:xfrm>
          <a:prstGeom prst="rect">
            <a:avLst/>
          </a:prstGeom>
          <a:noFill/>
          <a:ln/>
        </p:spPr>
        <p:txBody>
          <a:bodyPr wrap="square" lIns="0" tIns="0" rIns="0" bIns="0" rtlCol="0" anchor="t"/>
          <a:lstStyle/>
          <a:p>
            <a:pPr indent="0" marL="0">
              <a:buNone/>
            </a:pPr>
            <a:r>
              <a:rPr lang="en-US" sz="1100" dirty="0">
                <a:solidFill>
                  <a:schemeClr val="accent4"/>
                </a:solidFill>
              </a:rPr>
              <a:t>of sales  ·  ≈25% of customers</a:t>
            </a:r>
            <a:endParaRPr lang="en-US" sz="1100" dirty="0"/>
          </a:p>
        </p:txBody>
      </p:sp>
      <p:sp>
        <p:nvSpPr>
          <p:cNvPr id="18" name="Implication callout card"/>
          <p:cNvSpPr/>
          <p:nvPr/>
        </p:nvSpPr>
        <p:spPr>
          <a:xfrm>
            <a:off x="457200" y="4224528"/>
            <a:ext cx="8229600" cy="4572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9" name="Implication callout"/>
          <p:cNvSpPr txBox="1"/>
          <p:nvPr/>
        </p:nvSpPr>
        <p:spPr>
          <a:xfrm>
            <a:off x="640080" y="4224528"/>
            <a:ext cx="7863840" cy="457200"/>
          </a:xfrm>
          <a:prstGeom prst="rect">
            <a:avLst/>
          </a:prstGeom>
          <a:noFill/>
          <a:ln/>
        </p:spPr>
        <p:txBody>
          <a:bodyPr wrap="square" lIns="0" tIns="0" rIns="0" bIns="0" rtlCol="0" anchor="ctr"/>
          <a:lstStyle/>
          <a:p>
            <a:pPr indent="0" marL="0">
              <a:buNone/>
            </a:pPr>
            <a:r>
              <a:rPr lang="en-US" sz="1400" b="1" dirty="0">
                <a:solidFill>
                  <a:schemeClr val="tx1"/>
                </a:solidFill>
              </a:rPr>
              <a:t>Implication: </a:t>
            </a:r>
            <a:pPr indent="0" marL="0">
              <a:buNone/>
            </a:pPr>
            <a:r>
              <a:rPr lang="en-US" sz="1400" dirty="0">
                <a:solidFill>
                  <a:schemeClr val="tx1"/>
                </a:solidFill>
              </a:rPr>
              <a:t>prioritise retention and relationship management for High Value customers.</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Category &amp; Product Performance</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Electronics leads on sales contribution; Laptop, Mobile and Book lead products</a:t>
            </a:r>
            <a:endParaRPr lang="en-US" sz="1400" dirty="0"/>
          </a:p>
        </p:txBody>
      </p:sp>
      <p:sp>
        <p:nvSpPr>
          <p:cNvPr id="4" name="Chart: Sales by category card"/>
          <p:cNvSpPr/>
          <p:nvPr/>
        </p:nvSpPr>
        <p:spPr>
          <a:xfrm>
            <a:off x="457200" y="1280160"/>
            <a:ext cx="3977640" cy="2442609"/>
          </a:xfrm>
          <a:prstGeom prst="roundRect">
            <a:avLst>
              <a:gd name="adj" fmla="val 299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5" name="Chart: Sales by category" descr="Chart: Sales by category">    </p:cNvPr>
          <p:cNvPicPr>
            <a:picLocks noChangeAspect="1"/>
          </p:cNvPicPr>
          <p:nvPr/>
        </p:nvPicPr>
        <p:blipFill>
          <a:blip r:embed="rId1"/>
          <a:stretch>
            <a:fillRect/>
          </a:stretch>
        </p:blipFill>
        <p:spPr>
          <a:xfrm>
            <a:off x="548640" y="1371600"/>
            <a:ext cx="3794760" cy="2259729"/>
          </a:xfrm>
          <a:prstGeom prst="rect">
            <a:avLst/>
          </a:prstGeom>
        </p:spPr>
      </p:pic>
      <p:sp>
        <p:nvSpPr>
          <p:cNvPr id="6" name="Chart: Sales by product card"/>
          <p:cNvSpPr/>
          <p:nvPr/>
        </p:nvSpPr>
        <p:spPr>
          <a:xfrm>
            <a:off x="4709160" y="1280160"/>
            <a:ext cx="3977640" cy="2442609"/>
          </a:xfrm>
          <a:prstGeom prst="roundRect">
            <a:avLst>
              <a:gd name="adj" fmla="val 299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7" name="Chart: Sales by product" descr="Chart: Sales by product">    </p:cNvPr>
          <p:cNvPicPr>
            <a:picLocks noChangeAspect="1"/>
          </p:cNvPicPr>
          <p:nvPr/>
        </p:nvPicPr>
        <p:blipFill>
          <a:blip r:embed="rId2"/>
          <a:stretch>
            <a:fillRect/>
          </a:stretch>
        </p:blipFill>
        <p:spPr>
          <a:xfrm>
            <a:off x="4800600" y="1371600"/>
            <a:ext cx="3794760" cy="2259729"/>
          </a:xfrm>
          <a:prstGeom prst="rect">
            <a:avLst/>
          </a:prstGeom>
        </p:spPr>
      </p:pic>
      <p:sp>
        <p:nvSpPr>
          <p:cNvPr id="8" name="Category callout"/>
          <p:cNvSpPr/>
          <p:nvPr/>
        </p:nvSpPr>
        <p:spPr>
          <a:xfrm>
            <a:off x="457200" y="3822192"/>
            <a:ext cx="3977640" cy="475488"/>
          </a:xfrm>
          <a:prstGeom prst="roundRect">
            <a:avLst>
              <a:gd name="adj" fmla="val 1538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Category callout text"/>
          <p:cNvSpPr txBox="1"/>
          <p:nvPr/>
        </p:nvSpPr>
        <p:spPr>
          <a:xfrm>
            <a:off x="640080" y="3822192"/>
            <a:ext cx="3657600" cy="475488"/>
          </a:xfrm>
          <a:prstGeom prst="rect">
            <a:avLst/>
          </a:prstGeom>
          <a:noFill/>
          <a:ln/>
        </p:spPr>
        <p:txBody>
          <a:bodyPr wrap="square" lIns="0" tIns="0" rIns="0" bIns="0" rtlCol="0" anchor="ctr"/>
          <a:lstStyle/>
          <a:p>
            <a:pPr indent="0" marL="0">
              <a:buNone/>
            </a:pPr>
            <a:r>
              <a:rPr lang="en-US" sz="1300" b="1" dirty="0">
                <a:solidFill>
                  <a:schemeClr val="tx1"/>
                </a:solidFill>
              </a:rPr>
              <a:t>Electronics </a:t>
            </a:r>
            <a:pPr indent="0" marL="0">
              <a:buNone/>
            </a:pPr>
            <a:r>
              <a:rPr lang="en-US" sz="1300" dirty="0">
                <a:solidFill>
                  <a:schemeClr val="tx1"/>
                </a:solidFill>
              </a:rPr>
              <a:t>≈₹50.78M  ·  ≈36.43% of total sales</a:t>
            </a:r>
            <a:endParaRPr lang="en-US" sz="1300" dirty="0"/>
          </a:p>
        </p:txBody>
      </p:sp>
      <p:sp>
        <p:nvSpPr>
          <p:cNvPr id="10" name="Product callout"/>
          <p:cNvSpPr/>
          <p:nvPr/>
        </p:nvSpPr>
        <p:spPr>
          <a:xfrm>
            <a:off x="4709160" y="3822192"/>
            <a:ext cx="3977640" cy="475488"/>
          </a:xfrm>
          <a:prstGeom prst="roundRect">
            <a:avLst>
              <a:gd name="adj" fmla="val 1538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Product callout text"/>
          <p:cNvSpPr txBox="1"/>
          <p:nvPr/>
        </p:nvSpPr>
        <p:spPr>
          <a:xfrm>
            <a:off x="4892040" y="3822192"/>
            <a:ext cx="3657600" cy="475488"/>
          </a:xfrm>
          <a:prstGeom prst="rect">
            <a:avLst/>
          </a:prstGeom>
          <a:noFill/>
          <a:ln/>
        </p:spPr>
        <p:txBody>
          <a:bodyPr wrap="square" lIns="0" tIns="0" rIns="0" bIns="0" rtlCol="0" anchor="ctr"/>
          <a:lstStyle/>
          <a:p>
            <a:pPr indent="0" marL="0">
              <a:buNone/>
            </a:pPr>
            <a:r>
              <a:rPr lang="en-US" sz="1300" b="1" dirty="0">
                <a:solidFill>
                  <a:schemeClr val="tx1"/>
                </a:solidFill>
              </a:rPr>
              <a:t>Laptop · Mobile · Book </a:t>
            </a:r>
            <a:pPr indent="0" marL="0">
              <a:buNone/>
            </a:pPr>
            <a:r>
              <a:rPr lang="en-US" sz="1300" dirty="0">
                <a:solidFill>
                  <a:schemeClr val="tx1"/>
                </a:solidFill>
              </a:rPr>
              <a:t>lead product sales</a:t>
            </a:r>
            <a:endParaRPr lang="en-US" sz="1300" dirty="0"/>
          </a:p>
        </p:txBody>
      </p:sp>
      <p:sp>
        <p:nvSpPr>
          <p:cNvPr id="12" name="Distinction note card"/>
          <p:cNvSpPr/>
          <p:nvPr/>
        </p:nvSpPr>
        <p:spPr>
          <a:xfrm>
            <a:off x="457200" y="4389120"/>
            <a:ext cx="8229600" cy="347472"/>
          </a:xfrm>
          <a:prstGeom prst="roundRect">
            <a:avLst>
              <a:gd name="adj" fmla="val 21053"/>
            </a:avLst>
          </a:prstGeom>
          <a:solidFill>
            <a:schemeClr val="accent5"/>
          </a:solidFill>
          <a:ln w="12700">
            <a:solidFill>
              <a:schemeClr val="accent5"/>
            </a:solidFill>
            <a:prstDash val="solid"/>
          </a:ln>
        </p:spPr>
      </p:sp>
      <p:sp>
        <p:nvSpPr>
          <p:cNvPr id="13" name="Distinction note"/>
          <p:cNvSpPr txBox="1"/>
          <p:nvPr/>
        </p:nvSpPr>
        <p:spPr>
          <a:xfrm>
            <a:off x="640080" y="4389120"/>
            <a:ext cx="7863840" cy="347472"/>
          </a:xfrm>
          <a:prstGeom prst="rect">
            <a:avLst/>
          </a:prstGeom>
          <a:noFill/>
          <a:ln/>
        </p:spPr>
        <p:txBody>
          <a:bodyPr wrap="square" lIns="0" tIns="0" rIns="0" bIns="0" rtlCol="0" anchor="ctr"/>
          <a:lstStyle/>
          <a:p>
            <a:pPr indent="0" marL="0">
              <a:buNone/>
            </a:pPr>
            <a:r>
              <a:rPr lang="en-US" sz="1200" b="1" dirty="0">
                <a:solidFill>
                  <a:schemeClr val="tx1"/>
                </a:solidFill>
              </a:rPr>
              <a:t>Note: </a:t>
            </a:r>
            <a:pPr indent="0" marL="0">
              <a:buNone/>
            </a:pPr>
            <a:r>
              <a:rPr lang="en-US" sz="1200" dirty="0">
                <a:solidFill>
                  <a:schemeClr val="tx1"/>
                </a:solidFill>
              </a:rPr>
              <a:t>category sales contribution is not the same as transaction-level value (see statistical validation).</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Geographic &amp; Monthly Performance</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Performance varies across cities and months</a:t>
            </a:r>
            <a:endParaRPr lang="en-US" sz="1400" dirty="0"/>
          </a:p>
        </p:txBody>
      </p:sp>
      <p:sp>
        <p:nvSpPr>
          <p:cNvPr id="4" name="Chart: Sales by city card"/>
          <p:cNvSpPr/>
          <p:nvPr/>
        </p:nvSpPr>
        <p:spPr>
          <a:xfrm>
            <a:off x="457200" y="1280160"/>
            <a:ext cx="3977640" cy="2231749"/>
          </a:xfrm>
          <a:prstGeom prst="roundRect">
            <a:avLst>
              <a:gd name="adj" fmla="val 327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5" name="Chart: Sales by city" descr="Chart: Sales by city">    </p:cNvPr>
          <p:cNvPicPr>
            <a:picLocks noChangeAspect="1"/>
          </p:cNvPicPr>
          <p:nvPr/>
        </p:nvPicPr>
        <p:blipFill>
          <a:blip r:embed="rId1"/>
          <a:stretch>
            <a:fillRect/>
          </a:stretch>
        </p:blipFill>
        <p:spPr>
          <a:xfrm>
            <a:off x="548640" y="1371600"/>
            <a:ext cx="3794760" cy="2048869"/>
          </a:xfrm>
          <a:prstGeom prst="rect">
            <a:avLst/>
          </a:prstGeom>
        </p:spPr>
      </p:pic>
      <p:sp>
        <p:nvSpPr>
          <p:cNvPr id="6" name="Chart: Monthly sales trend 2025 card"/>
          <p:cNvSpPr/>
          <p:nvPr/>
        </p:nvSpPr>
        <p:spPr>
          <a:xfrm>
            <a:off x="4709160" y="1280160"/>
            <a:ext cx="3977640" cy="2235231"/>
          </a:xfrm>
          <a:prstGeom prst="roundRect">
            <a:avLst>
              <a:gd name="adj" fmla="val 327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7" name="Chart: Monthly sales trend 2025" descr="Chart: Monthly sales trend 2025">    </p:cNvPr>
          <p:cNvPicPr>
            <a:picLocks noChangeAspect="1"/>
          </p:cNvPicPr>
          <p:nvPr/>
        </p:nvPicPr>
        <p:blipFill>
          <a:blip r:embed="rId2"/>
          <a:stretch>
            <a:fillRect/>
          </a:stretch>
        </p:blipFill>
        <p:spPr>
          <a:xfrm>
            <a:off x="4800600" y="1371600"/>
            <a:ext cx="3794760" cy="2052351"/>
          </a:xfrm>
          <a:prstGeom prst="rect">
            <a:avLst/>
          </a:prstGeom>
        </p:spPr>
      </p:pic>
      <p:sp>
        <p:nvSpPr>
          <p:cNvPr id="8" name="City panel"/>
          <p:cNvSpPr/>
          <p:nvPr/>
        </p:nvSpPr>
        <p:spPr>
          <a:xfrm>
            <a:off x="457200" y="3611880"/>
            <a:ext cx="3977640" cy="1097280"/>
          </a:xfrm>
          <a:prstGeom prst="roundRect">
            <a:avLst>
              <a:gd name="adj" fmla="val 666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City panel text"/>
          <p:cNvSpPr txBox="1"/>
          <p:nvPr/>
        </p:nvSpPr>
        <p:spPr>
          <a:xfrm>
            <a:off x="640080" y="3657600"/>
            <a:ext cx="3611880" cy="1005840"/>
          </a:xfrm>
          <a:prstGeom prst="rect">
            <a:avLst/>
          </a:prstGeom>
          <a:noFill/>
          <a:ln/>
        </p:spPr>
        <p:txBody>
          <a:bodyPr wrap="square" lIns="0" tIns="0" rIns="0" bIns="0" rtlCol="0" anchor="ctr"/>
          <a:lstStyle/>
          <a:p>
            <a:pPr indent="0" marL="0">
              <a:spcAft>
                <a:spcPts val="300"/>
              </a:spcAft>
              <a:buNone/>
            </a:pPr>
            <a:r>
              <a:rPr lang="en-US" sz="1200" b="1" dirty="0">
                <a:solidFill>
                  <a:schemeClr val="tx1"/>
                </a:solidFill>
              </a:rPr>
              <a:t>Patna: </a:t>
            </a:r>
            <a:pPr indent="0" marL="0">
              <a:spcAft>
                <a:spcPts val="300"/>
              </a:spcAft>
              <a:buNone/>
            </a:pPr>
            <a:r>
              <a:rPr lang="en-US" sz="1200" dirty="0">
                <a:solidFill>
                  <a:schemeClr val="tx1"/>
                </a:solidFill>
              </a:rPr>
              <a:t>highest total sales, ≈₹19.29M</a:t>
            </a:r>
            <a:endParaRPr lang="en-US" sz="1200" dirty="0"/>
          </a:p>
          <a:p>
            <a:pPr indent="0" marL="0">
              <a:spcAft>
                <a:spcPts val="300"/>
              </a:spcAft>
              <a:buNone/>
            </a:pPr>
            <a:r>
              <a:rPr lang="en-US" sz="1200" b="1" dirty="0">
                <a:solidFill>
                  <a:schemeClr val="tx1"/>
                </a:solidFill>
              </a:rPr>
              <a:t>Bengaluru: </a:t>
            </a:r>
            <a:pPr indent="0" marL="0">
              <a:spcAft>
                <a:spcPts val="300"/>
              </a:spcAft>
              <a:buNone/>
            </a:pPr>
            <a:r>
              <a:rPr lang="en-US" sz="1200" dirty="0">
                <a:solidFill>
                  <a:schemeClr val="tx1"/>
                </a:solidFill>
              </a:rPr>
              <a:t>highest sales per customer, ≈₹156,446</a:t>
            </a:r>
            <a:endParaRPr lang="en-US" sz="1200" dirty="0"/>
          </a:p>
          <a:p>
            <a:pPr indent="0" marL="0">
              <a:spcAft>
                <a:spcPts val="300"/>
              </a:spcAft>
              <a:buNone/>
            </a:pPr>
            <a:r>
              <a:rPr lang="en-US" sz="1200" b="1" dirty="0">
                <a:solidFill>
                  <a:schemeClr val="tx1"/>
                </a:solidFill>
              </a:rPr>
              <a:t>Kolkata and Bengaluru: </a:t>
            </a:r>
            <a:pPr indent="0" marL="0">
              <a:spcAft>
                <a:spcPts val="300"/>
              </a:spcAft>
              <a:buNone/>
            </a:pPr>
            <a:r>
              <a:rPr lang="en-US" sz="1200" dirty="0">
                <a:solidFill>
                  <a:schemeClr val="tx1"/>
                </a:solidFill>
              </a:rPr>
              <a:t>also among the strongest cities</a:t>
            </a:r>
            <a:endParaRPr lang="en-US" sz="1200" dirty="0"/>
          </a:p>
        </p:txBody>
      </p:sp>
      <p:sp>
        <p:nvSpPr>
          <p:cNvPr id="10" name="Month panel"/>
          <p:cNvSpPr/>
          <p:nvPr/>
        </p:nvSpPr>
        <p:spPr>
          <a:xfrm>
            <a:off x="4709160" y="3611880"/>
            <a:ext cx="3977640" cy="1097280"/>
          </a:xfrm>
          <a:prstGeom prst="roundRect">
            <a:avLst>
              <a:gd name="adj" fmla="val 666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Month panel text"/>
          <p:cNvSpPr txBox="1"/>
          <p:nvPr/>
        </p:nvSpPr>
        <p:spPr>
          <a:xfrm>
            <a:off x="4892040" y="3657600"/>
            <a:ext cx="3611880" cy="1005840"/>
          </a:xfrm>
          <a:prstGeom prst="rect">
            <a:avLst/>
          </a:prstGeom>
          <a:noFill/>
          <a:ln/>
        </p:spPr>
        <p:txBody>
          <a:bodyPr wrap="square" lIns="0" tIns="0" rIns="0" bIns="0" rtlCol="0" anchor="ctr"/>
          <a:lstStyle/>
          <a:p>
            <a:pPr indent="0" marL="0">
              <a:spcAft>
                <a:spcPts val="300"/>
              </a:spcAft>
              <a:buNone/>
            </a:pPr>
            <a:r>
              <a:rPr lang="en-US" sz="1200" b="1" dirty="0">
                <a:solidFill>
                  <a:schemeClr val="tx1"/>
                </a:solidFill>
              </a:rPr>
              <a:t>March 2025: </a:t>
            </a:r>
            <a:pPr indent="0" marL="0">
              <a:spcAft>
                <a:spcPts val="300"/>
              </a:spcAft>
              <a:buNone/>
            </a:pPr>
            <a:r>
              <a:rPr lang="en-US" sz="1200" dirty="0">
                <a:solidFill>
                  <a:schemeClr val="tx1"/>
                </a:solidFill>
              </a:rPr>
              <a:t>highest complete month, ≈₹13.06M</a:t>
            </a:r>
            <a:endParaRPr lang="en-US" sz="1200" dirty="0"/>
          </a:p>
          <a:p>
            <a:pPr indent="0" marL="0">
              <a:spcAft>
                <a:spcPts val="300"/>
              </a:spcAft>
              <a:buNone/>
            </a:pPr>
            <a:r>
              <a:rPr lang="en-US" sz="1200" b="1" dirty="0">
                <a:solidFill>
                  <a:schemeClr val="tx1"/>
                </a:solidFill>
              </a:rPr>
              <a:t>September 2025: </a:t>
            </a:r>
            <a:pPr indent="0" marL="0">
              <a:spcAft>
                <a:spcPts val="300"/>
              </a:spcAft>
              <a:buNone/>
            </a:pPr>
            <a:r>
              <a:rPr lang="en-US" sz="1200" dirty="0">
                <a:solidFill>
                  <a:schemeClr val="tx1"/>
                </a:solidFill>
              </a:rPr>
              <a:t>lowest complete month, ≈₹9.18M</a:t>
            </a:r>
            <a:endParaRPr lang="en-US" sz="1200" dirty="0"/>
          </a:p>
          <a:p>
            <a:pPr indent="0" marL="0">
              <a:spcAft>
                <a:spcPts val="300"/>
              </a:spcAft>
              <a:buNone/>
            </a:pPr>
            <a:r>
              <a:rPr lang="en-US" sz="1200" b="1" dirty="0">
                <a:solidFill>
                  <a:schemeClr val="tx1"/>
                </a:solidFill>
              </a:rPr>
              <a:t>January 2026: </a:t>
            </a:r>
            <a:pPr indent="0" marL="0">
              <a:spcAft>
                <a:spcPts val="300"/>
              </a:spcAft>
              <a:buNone/>
            </a:pPr>
            <a:r>
              <a:rPr lang="en-US" sz="1200" dirty="0">
                <a:solidFill>
                  <a:schemeClr val="tx1"/>
                </a:solidFill>
              </a:rPr>
              <a:t>partial-period data, not compared with complete months</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Statistical Validation</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Higher observed average, but no statistically significant difference</a:t>
            </a:r>
            <a:endParaRPr lang="en-US" sz="1400" dirty="0"/>
          </a:p>
        </p:txBody>
      </p:sp>
      <p:sp>
        <p:nvSpPr>
          <p:cNvPr id="4" name="Chart: Electronics vs Non-Electronics average transaction sales card"/>
          <p:cNvSpPr/>
          <p:nvPr/>
        </p:nvSpPr>
        <p:spPr>
          <a:xfrm>
            <a:off x="457200" y="1280160"/>
            <a:ext cx="4023360" cy="2261133"/>
          </a:xfrm>
          <a:prstGeom prst="roundRect">
            <a:avLst>
              <a:gd name="adj" fmla="val 323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5" name="Chart: Electronics vs Non-Electronics average transaction sales" descr="Chart: Electronics vs Non-Electronics average transaction sales">    </p:cNvPr>
          <p:cNvPicPr>
            <a:picLocks noChangeAspect="1"/>
          </p:cNvPicPr>
          <p:nvPr/>
        </p:nvPicPr>
        <p:blipFill>
          <a:blip r:embed="rId1"/>
          <a:stretch>
            <a:fillRect/>
          </a:stretch>
        </p:blipFill>
        <p:spPr>
          <a:xfrm>
            <a:off x="548640" y="1371600"/>
            <a:ext cx="3840480" cy="2078253"/>
          </a:xfrm>
          <a:prstGeom prst="rect">
            <a:avLst/>
          </a:prstGeom>
        </p:spPr>
      </p:pic>
      <p:sp>
        <p:nvSpPr>
          <p:cNvPr id="6" name="Conclusion card"/>
          <p:cNvSpPr/>
          <p:nvPr/>
        </p:nvSpPr>
        <p:spPr>
          <a:xfrm>
            <a:off x="457200" y="3678453"/>
            <a:ext cx="4023360" cy="1030707"/>
          </a:xfrm>
          <a:prstGeom prst="roundRect">
            <a:avLst>
              <a:gd name="adj" fmla="val 7097"/>
            </a:avLst>
          </a:prstGeom>
          <a:solidFill>
            <a:schemeClr val="tx1"/>
          </a:solidFill>
          <a:ln w="12700">
            <a:solidFill>
              <a:schemeClr val="tx1"/>
            </a:solidFill>
            <a:prstDash val="solid"/>
          </a:ln>
        </p:spPr>
      </p:sp>
      <p:sp>
        <p:nvSpPr>
          <p:cNvPr id="7" name="Conclusion text"/>
          <p:cNvSpPr txBox="1"/>
          <p:nvPr/>
        </p:nvSpPr>
        <p:spPr>
          <a:xfrm>
            <a:off x="640080" y="3724173"/>
            <a:ext cx="3657600" cy="939267"/>
          </a:xfrm>
          <a:prstGeom prst="rect">
            <a:avLst/>
          </a:prstGeom>
          <a:noFill/>
          <a:ln/>
        </p:spPr>
        <p:txBody>
          <a:bodyPr wrap="square" lIns="0" tIns="0" rIns="0" bIns="0" rtlCol="0" anchor="ctr"/>
          <a:lstStyle/>
          <a:p>
            <a:pPr indent="0" marL="0">
              <a:buNone/>
            </a:pPr>
            <a:r>
              <a:rPr lang="en-US" sz="1300" b="1" dirty="0">
                <a:solidFill>
                  <a:schemeClr val="bg1"/>
                </a:solidFill>
              </a:rPr>
              <a:t>Electronics transactions have a higher observed average sales value, but the difference is not statistically significant at the 5% significance level.</a:t>
            </a:r>
            <a:endParaRPr lang="en-US" sz="1300" dirty="0"/>
          </a:p>
        </p:txBody>
      </p:sp>
      <p:sp>
        <p:nvSpPr>
          <p:cNvPr id="8" name="Hypothesis card"/>
          <p:cNvSpPr/>
          <p:nvPr/>
        </p:nvSpPr>
        <p:spPr>
          <a:xfrm>
            <a:off x="4663440" y="1280160"/>
            <a:ext cx="4023360" cy="1207008"/>
          </a:xfrm>
          <a:prstGeom prst="roundRect">
            <a:avLst>
              <a:gd name="adj" fmla="val 60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Hypothesis text"/>
          <p:cNvSpPr txBox="1"/>
          <p:nvPr/>
        </p:nvSpPr>
        <p:spPr>
          <a:xfrm>
            <a:off x="4828032" y="1325880"/>
            <a:ext cx="3703320" cy="1115568"/>
          </a:xfrm>
          <a:prstGeom prst="rect">
            <a:avLst/>
          </a:prstGeom>
          <a:noFill/>
          <a:ln/>
        </p:spPr>
        <p:txBody>
          <a:bodyPr wrap="square" lIns="0" tIns="0" rIns="0" bIns="0" rtlCol="0" anchor="ctr"/>
          <a:lstStyle/>
          <a:p>
            <a:pPr indent="0" marL="0">
              <a:spcAft>
                <a:spcPts val="300"/>
              </a:spcAft>
              <a:buNone/>
            </a:pPr>
            <a:r>
              <a:rPr lang="en-US" sz="1100" b="1" dirty="0">
                <a:solidFill>
                  <a:schemeClr val="accent1"/>
                </a:solidFill>
              </a:rPr>
              <a:t>H0: </a:t>
            </a:r>
            <a:pPr indent="0" marL="0">
              <a:spcAft>
                <a:spcPts val="300"/>
              </a:spcAft>
              <a:buNone/>
            </a:pPr>
            <a:r>
              <a:rPr lang="en-US" sz="1100" dirty="0">
                <a:solidFill>
                  <a:schemeClr val="tx1"/>
                </a:solidFill>
              </a:rPr>
              <a:t>No significant difference in mean transaction sales between Electronics and Non-Electronics.</a:t>
            </a:r>
            <a:endParaRPr lang="en-US" sz="1100" dirty="0"/>
          </a:p>
          <a:p>
            <a:pPr indent="0" marL="0">
              <a:spcAft>
                <a:spcPts val="300"/>
              </a:spcAft>
              <a:buNone/>
            </a:pPr>
            <a:r>
              <a:rPr lang="en-US" sz="1100" b="1" dirty="0">
                <a:solidFill>
                  <a:schemeClr val="accent1"/>
                </a:solidFill>
              </a:rPr>
              <a:t>H1: </a:t>
            </a:r>
            <a:pPr indent="0" marL="0">
              <a:spcAft>
                <a:spcPts val="300"/>
              </a:spcAft>
              <a:buNone/>
            </a:pPr>
            <a:r>
              <a:rPr lang="en-US" sz="1100" dirty="0">
                <a:solidFill>
                  <a:schemeClr val="tx1"/>
                </a:solidFill>
              </a:rPr>
              <a:t>A significant difference exists.</a:t>
            </a:r>
            <a:endParaRPr lang="en-US" sz="1100" dirty="0"/>
          </a:p>
          <a:p>
            <a:pPr indent="0" marL="0">
              <a:spcAft>
                <a:spcPts val="300"/>
              </a:spcAft>
              <a:buNone/>
            </a:pPr>
            <a:r>
              <a:rPr lang="en-US" sz="1100" b="1" dirty="0">
                <a:solidFill>
                  <a:schemeClr val="accent4"/>
                </a:solidFill>
              </a:rPr>
              <a:t>Welch's independent two-sample t-test  ·  α = 0.05</a:t>
            </a:r>
            <a:endParaRPr lang="en-US" sz="1100" dirty="0"/>
          </a:p>
        </p:txBody>
      </p:sp>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4663440" y="2606040"/>
          <a:ext cx="4023360" cy="914400"/>
        </p:xfrm>
        <a:graphic>
          <a:graphicData uri="http://schemas.openxmlformats.org/drawingml/2006/table">
            <a:tbl>
              <a:tblPr/>
              <a:tblGrid>
                <a:gridCol w="2286000"/>
                <a:gridCol w="1737360"/>
              </a:tblGrid>
              <a:tr h="233172">
                <a:tc>
                  <a:txBody>
                    <a:bodyPr/>
                    <a:lstStyle/>
                    <a:p>
                      <a:pPr indent="0" marL="0">
                        <a:buNone/>
                      </a:pPr>
                      <a:r>
                        <a:rPr lang="en-US" sz="1100" dirty="0">
                          <a:solidFill>
                            <a:schemeClr val="accent4"/>
                          </a:solidFill>
                        </a:rPr>
                        <a:t>Transactions (Elec. vs Non-Elec.)</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354 vs 646</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Electronics mean</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₹143,442.32</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Non-Electronics mean</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₹137,183.99</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Mean difference</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₹6,258.33</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T-statistic</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0.8179</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P-value</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0.413674</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95% confidence interval</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₹−8,764.16 to ₹21,280.82</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dirty="0">
                          <a:solidFill>
                            <a:schemeClr val="accent4"/>
                          </a:solidFill>
                        </a:rPr>
                        <a:t>Cohen's d</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rPr>
                        <a:t>0.0548 (Negligible)</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bg1"/>
                    </a:solidFill>
                  </a:tcPr>
                </a:tc>
              </a:tr>
              <a:tr h="233172">
                <a:tc>
                  <a:txBody>
                    <a:bodyPr/>
                    <a:lstStyle/>
                    <a:p>
                      <a:pPr indent="0" marL="0">
                        <a:buNone/>
                      </a:pPr>
                      <a:r>
                        <a:rPr lang="en-US" sz="1100" b="1" dirty="0">
                          <a:solidFill>
                            <a:schemeClr val="tx1"/>
                          </a:solidFill>
                        </a:rPr>
                        <a:t>Decision</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accent2"/>
                    </a:solidFill>
                  </a:tcPr>
                </a:tc>
                <a:tc>
                  <a:txBody>
                    <a:bodyPr/>
                    <a:lstStyle/>
                    <a:p>
                      <a:pPr algn="r" indent="0" marL="0">
                        <a:buNone/>
                      </a:pPr>
                      <a:r>
                        <a:rPr lang="en-US" sz="1100" b="1" dirty="0">
                          <a:solidFill>
                            <a:schemeClr val="tx1"/>
                          </a:solidFill>
                        </a:rPr>
                        <a:t>Fail to Reject H0</a:t>
                      </a:r>
                      <a:endParaRPr lang="en-US" sz="1100" dirty="0"/>
                    </a:p>
                  </a:txBody>
                  <a:tcPr marL="76200" marR="76200" marT="12700" marB="12700" anchor="ctr">
                    <a:lnL w="0" cap="flat" cmpd="sng" algn="ctr">
                      <a:noFill/>
                    </a:lnL>
                    <a:lnR w="0" cap="flat" cmpd="sng" algn="ctr">
                      <a:noFill/>
                    </a:lnR>
                    <a:lnT w="0" cap="flat" cmpd="sng" algn="ctr">
                      <a:noFill/>
                    </a:lnT>
                    <a:lnB w="6350" cap="flat" cmpd="sng" algn="ctr">
                      <a:solidFill>
                        <a:srgbClr val="D5DEEA"/>
                      </a:solidFill>
                      <a:prstDash val="solid"/>
                      <a:round/>
                      <a:headEnd type="none" w="med" len="med"/>
                      <a:tailEnd type="none" w="med" len="med"/>
                    </a:lnB>
                    <a:solidFill>
                      <a:schemeClr val="accent2"/>
                    </a:solidFill>
                  </a:tcPr>
                </a:tc>
              </a:tr>
            </a:tbl>
          </a:graphicData>
        </a:graphic>
      </p:graphicFrame>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Key Business Insights</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Five findings tie the descriptive and statistical evidence together</a:t>
            </a:r>
            <a:endParaRPr lang="en-US" sz="1400" dirty="0"/>
          </a:p>
        </p:txBody>
      </p:sp>
      <p:sp>
        <p:nvSpPr>
          <p:cNvPr id="4" name="Hero insight card"/>
          <p:cNvSpPr/>
          <p:nvPr/>
        </p:nvSpPr>
        <p:spPr>
          <a:xfrm>
            <a:off x="457200" y="1371600"/>
            <a:ext cx="3291840" cy="3291840"/>
          </a:xfrm>
          <a:prstGeom prst="roundRect">
            <a:avLst>
              <a:gd name="adj" fmla="val 2222"/>
            </a:avLst>
          </a:prstGeom>
          <a:solidFill>
            <a:schemeClr val="tx1"/>
          </a:solidFill>
          <a:ln w="12700">
            <a:solidFill>
              <a:schemeClr val="tx1"/>
            </a:solidFill>
            <a:prstDash val="solid"/>
          </a:ln>
        </p:spPr>
      </p:sp>
      <p:sp>
        <p:nvSpPr>
          <p:cNvPr id="5" name="Insight 1 number"/>
          <p:cNvSpPr/>
          <p:nvPr/>
        </p:nvSpPr>
        <p:spPr>
          <a:xfrm>
            <a:off x="685800" y="1600200"/>
            <a:ext cx="365760" cy="365760"/>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6" name="Insight 1 headline"/>
          <p:cNvSpPr txBox="1"/>
          <p:nvPr/>
        </p:nvSpPr>
        <p:spPr>
          <a:xfrm>
            <a:off x="685800" y="2148840"/>
            <a:ext cx="2834640" cy="91440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Revenue is strongly concentrated among High Value customers</a:t>
            </a:r>
            <a:endParaRPr lang="en-US" sz="2000" dirty="0"/>
          </a:p>
        </p:txBody>
      </p:sp>
      <p:sp>
        <p:nvSpPr>
          <p:cNvPr id="7" name="Insight 1 stat"/>
          <p:cNvSpPr txBox="1"/>
          <p:nvPr/>
        </p:nvSpPr>
        <p:spPr>
          <a:xfrm>
            <a:off x="685800" y="3291840"/>
            <a:ext cx="2834640" cy="548640"/>
          </a:xfrm>
          <a:prstGeom prst="rect">
            <a:avLst/>
          </a:prstGeom>
          <a:noFill/>
          <a:ln/>
        </p:spPr>
        <p:txBody>
          <a:bodyPr wrap="square" lIns="0" tIns="0" rIns="0" bIns="0" rtlCol="0" anchor="ctr"/>
          <a:lstStyle/>
          <a:p>
            <a:pPr indent="0" marL="0">
              <a:buNone/>
            </a:pPr>
            <a:r>
              <a:rPr lang="en-US" sz="3400" b="1" dirty="0">
                <a:solidFill>
                  <a:schemeClr val="accent2"/>
                </a:solidFill>
              </a:rPr>
              <a:t>≈25%  →  ≈55%</a:t>
            </a:r>
            <a:endParaRPr lang="en-US" sz="3400" dirty="0"/>
          </a:p>
        </p:txBody>
      </p:sp>
      <p:sp>
        <p:nvSpPr>
          <p:cNvPr id="8" name="Insight 1 caption"/>
          <p:cNvSpPr txBox="1"/>
          <p:nvPr/>
        </p:nvSpPr>
        <p:spPr>
          <a:xfrm>
            <a:off x="685800" y="3886200"/>
            <a:ext cx="2834640" cy="457200"/>
          </a:xfrm>
          <a:prstGeom prst="rect">
            <a:avLst/>
          </a:prstGeom>
          <a:noFill/>
          <a:ln/>
        </p:spPr>
        <p:txBody>
          <a:bodyPr wrap="square" lIns="0" tIns="0" rIns="0" bIns="0" rtlCol="0" anchor="t"/>
          <a:lstStyle/>
          <a:p>
            <a:pPr indent="0" marL="0">
              <a:buNone/>
            </a:pPr>
            <a:r>
              <a:rPr lang="en-US" sz="1300" dirty="0">
                <a:solidFill>
                  <a:schemeClr val="accent5"/>
                </a:solidFill>
              </a:rPr>
              <a:t>of customers contribute this share of total sales</a:t>
            </a:r>
            <a:endParaRPr lang="en-US" sz="1300" dirty="0"/>
          </a:p>
        </p:txBody>
      </p:sp>
      <p:sp>
        <p:nvSpPr>
          <p:cNvPr id="9" name="Insight card 2"/>
          <p:cNvSpPr/>
          <p:nvPr/>
        </p:nvSpPr>
        <p:spPr>
          <a:xfrm>
            <a:off x="4023360" y="1371600"/>
            <a:ext cx="219456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Insight 2 number"/>
          <p:cNvSpPr/>
          <p:nvPr/>
        </p:nvSpPr>
        <p:spPr>
          <a:xfrm>
            <a:off x="4160520" y="1490472"/>
            <a:ext cx="292608" cy="29260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1" name="Insight 2 headline"/>
          <p:cNvSpPr txBox="1"/>
          <p:nvPr/>
        </p:nvSpPr>
        <p:spPr>
          <a:xfrm>
            <a:off x="4160520" y="1874520"/>
            <a:ext cx="1920240" cy="457200"/>
          </a:xfrm>
          <a:prstGeom prst="rect">
            <a:avLst/>
          </a:prstGeom>
          <a:noFill/>
          <a:ln/>
        </p:spPr>
        <p:txBody>
          <a:bodyPr wrap="square" lIns="0" tIns="0" rIns="0" bIns="0" rtlCol="0" anchor="t"/>
          <a:lstStyle/>
          <a:p>
            <a:pPr indent="0" marL="0">
              <a:buNone/>
            </a:pPr>
            <a:r>
              <a:rPr lang="en-US" sz="1300" b="1" dirty="0">
                <a:solidFill>
                  <a:schemeClr val="tx1"/>
                </a:solidFill>
              </a:rPr>
              <a:t>Electronics is the largest revenue category</a:t>
            </a:r>
            <a:endParaRPr lang="en-US" sz="1300" dirty="0"/>
          </a:p>
        </p:txBody>
      </p:sp>
      <p:sp>
        <p:nvSpPr>
          <p:cNvPr id="12" name="Insight 2 support"/>
          <p:cNvSpPr txBox="1"/>
          <p:nvPr/>
        </p:nvSpPr>
        <p:spPr>
          <a:xfrm>
            <a:off x="4160520" y="2377440"/>
            <a:ext cx="1920240" cy="457200"/>
          </a:xfrm>
          <a:prstGeom prst="rect">
            <a:avLst/>
          </a:prstGeom>
          <a:noFill/>
          <a:ln/>
        </p:spPr>
        <p:txBody>
          <a:bodyPr wrap="square" lIns="0" tIns="0" rIns="0" bIns="0" rtlCol="0" anchor="t"/>
          <a:lstStyle/>
          <a:p>
            <a:pPr indent="0" marL="0">
              <a:buNone/>
            </a:pPr>
            <a:r>
              <a:rPr lang="en-US" sz="1100" dirty="0">
                <a:solidFill>
                  <a:schemeClr val="accent4"/>
                </a:solidFill>
              </a:rPr>
              <a:t>≈36.43% of total sales</a:t>
            </a:r>
            <a:endParaRPr lang="en-US" sz="1100" dirty="0"/>
          </a:p>
        </p:txBody>
      </p:sp>
      <p:sp>
        <p:nvSpPr>
          <p:cNvPr id="13" name="Insight card 3"/>
          <p:cNvSpPr/>
          <p:nvPr/>
        </p:nvSpPr>
        <p:spPr>
          <a:xfrm>
            <a:off x="6492240" y="1371600"/>
            <a:ext cx="219456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Insight 3 number"/>
          <p:cNvSpPr/>
          <p:nvPr/>
        </p:nvSpPr>
        <p:spPr>
          <a:xfrm>
            <a:off x="6629400" y="1490472"/>
            <a:ext cx="292608" cy="29260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5" name="Insight 3 headline"/>
          <p:cNvSpPr txBox="1"/>
          <p:nvPr/>
        </p:nvSpPr>
        <p:spPr>
          <a:xfrm>
            <a:off x="6629400" y="1874520"/>
            <a:ext cx="1920240" cy="457200"/>
          </a:xfrm>
          <a:prstGeom prst="rect">
            <a:avLst/>
          </a:prstGeom>
          <a:noFill/>
          <a:ln/>
        </p:spPr>
        <p:txBody>
          <a:bodyPr wrap="square" lIns="0" tIns="0" rIns="0" bIns="0" rtlCol="0" anchor="t"/>
          <a:lstStyle/>
          <a:p>
            <a:pPr indent="0" marL="0">
              <a:buNone/>
            </a:pPr>
            <a:r>
              <a:rPr lang="en-US" sz="1300" b="1" dirty="0">
                <a:solidFill>
                  <a:schemeClr val="tx1"/>
                </a:solidFill>
              </a:rPr>
              <a:t>Laptop and Mobile are top products</a:t>
            </a:r>
            <a:endParaRPr lang="en-US" sz="1300" dirty="0"/>
          </a:p>
        </p:txBody>
      </p:sp>
      <p:sp>
        <p:nvSpPr>
          <p:cNvPr id="16" name="Insight 3 support"/>
          <p:cNvSpPr txBox="1"/>
          <p:nvPr/>
        </p:nvSpPr>
        <p:spPr>
          <a:xfrm>
            <a:off x="6629400" y="2377440"/>
            <a:ext cx="1920240" cy="457200"/>
          </a:xfrm>
          <a:prstGeom prst="rect">
            <a:avLst/>
          </a:prstGeom>
          <a:noFill/>
          <a:ln/>
        </p:spPr>
        <p:txBody>
          <a:bodyPr wrap="square" lIns="0" tIns="0" rIns="0" bIns="0" rtlCol="0" anchor="t"/>
          <a:lstStyle/>
          <a:p>
            <a:pPr indent="0" marL="0">
              <a:buNone/>
            </a:pPr>
            <a:r>
              <a:rPr lang="en-US" sz="1100" dirty="0">
                <a:solidFill>
                  <a:schemeClr val="accent4"/>
                </a:solidFill>
              </a:rPr>
              <a:t>≈₹25.44M and ≈₹25.34M in sales</a:t>
            </a:r>
            <a:endParaRPr lang="en-US" sz="1100" dirty="0"/>
          </a:p>
        </p:txBody>
      </p:sp>
      <p:sp>
        <p:nvSpPr>
          <p:cNvPr id="17" name="Insight card 4"/>
          <p:cNvSpPr/>
          <p:nvPr/>
        </p:nvSpPr>
        <p:spPr>
          <a:xfrm>
            <a:off x="4023360" y="3108960"/>
            <a:ext cx="219456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8" name="Insight 4 number"/>
          <p:cNvSpPr/>
          <p:nvPr/>
        </p:nvSpPr>
        <p:spPr>
          <a:xfrm>
            <a:off x="4160520" y="3227832"/>
            <a:ext cx="292608" cy="29260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9" name="Insight 4 headline"/>
          <p:cNvSpPr txBox="1"/>
          <p:nvPr/>
        </p:nvSpPr>
        <p:spPr>
          <a:xfrm>
            <a:off x="4160520" y="3611880"/>
            <a:ext cx="1920240" cy="457200"/>
          </a:xfrm>
          <a:prstGeom prst="rect">
            <a:avLst/>
          </a:prstGeom>
          <a:noFill/>
          <a:ln/>
        </p:spPr>
        <p:txBody>
          <a:bodyPr wrap="square" lIns="0" tIns="0" rIns="0" bIns="0" rtlCol="0" anchor="t"/>
          <a:lstStyle/>
          <a:p>
            <a:pPr indent="0" marL="0">
              <a:buNone/>
            </a:pPr>
            <a:r>
              <a:rPr lang="en-US" sz="1300" b="1" dirty="0">
                <a:solidFill>
                  <a:schemeClr val="tx1"/>
                </a:solidFill>
              </a:rPr>
              <a:t>Sales performance varies across cities and months</a:t>
            </a:r>
            <a:endParaRPr lang="en-US" sz="1300" dirty="0"/>
          </a:p>
        </p:txBody>
      </p:sp>
      <p:sp>
        <p:nvSpPr>
          <p:cNvPr id="20" name="Insight 4 support"/>
          <p:cNvSpPr txBox="1"/>
          <p:nvPr/>
        </p:nvSpPr>
        <p:spPr>
          <a:xfrm>
            <a:off x="4160520" y="4114800"/>
            <a:ext cx="1920240" cy="457200"/>
          </a:xfrm>
          <a:prstGeom prst="rect">
            <a:avLst/>
          </a:prstGeom>
          <a:noFill/>
          <a:ln/>
        </p:spPr>
        <p:txBody>
          <a:bodyPr wrap="square" lIns="0" tIns="0" rIns="0" bIns="0" rtlCol="0" anchor="t"/>
          <a:lstStyle/>
          <a:p>
            <a:pPr indent="0" marL="0">
              <a:buNone/>
            </a:pPr>
            <a:r>
              <a:rPr lang="en-US" sz="1100" dirty="0">
                <a:solidFill>
                  <a:schemeClr val="accent4"/>
                </a:solidFill>
              </a:rPr>
              <a:t>Patna leads total sales; Bengaluru leads sales per customer</a:t>
            </a:r>
            <a:endParaRPr lang="en-US" sz="1100" dirty="0"/>
          </a:p>
        </p:txBody>
      </p:sp>
      <p:sp>
        <p:nvSpPr>
          <p:cNvPr id="21" name="Insight card 5"/>
          <p:cNvSpPr/>
          <p:nvPr/>
        </p:nvSpPr>
        <p:spPr>
          <a:xfrm>
            <a:off x="6492240" y="3108960"/>
            <a:ext cx="219456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2" name="Insight 5 number"/>
          <p:cNvSpPr/>
          <p:nvPr/>
        </p:nvSpPr>
        <p:spPr>
          <a:xfrm>
            <a:off x="6629400" y="3227832"/>
            <a:ext cx="292608" cy="29260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3" name="Insight 5 headline"/>
          <p:cNvSpPr txBox="1"/>
          <p:nvPr/>
        </p:nvSpPr>
        <p:spPr>
          <a:xfrm>
            <a:off x="6629400" y="3611880"/>
            <a:ext cx="1920240" cy="457200"/>
          </a:xfrm>
          <a:prstGeom prst="rect">
            <a:avLst/>
          </a:prstGeom>
          <a:noFill/>
          <a:ln/>
        </p:spPr>
        <p:txBody>
          <a:bodyPr wrap="square" lIns="0" tIns="0" rIns="0" bIns="0" rtlCol="0" anchor="t"/>
          <a:lstStyle/>
          <a:p>
            <a:pPr indent="0" marL="0">
              <a:buNone/>
            </a:pPr>
            <a:r>
              <a:rPr lang="en-US" sz="1300" b="1" dirty="0">
                <a:solidFill>
                  <a:schemeClr val="tx1"/>
                </a:solidFill>
              </a:rPr>
              <a:t>No significant transaction-value difference</a:t>
            </a:r>
            <a:endParaRPr lang="en-US" sz="1300" dirty="0"/>
          </a:p>
        </p:txBody>
      </p:sp>
      <p:sp>
        <p:nvSpPr>
          <p:cNvPr id="24" name="Insight 5 support"/>
          <p:cNvSpPr txBox="1"/>
          <p:nvPr/>
        </p:nvSpPr>
        <p:spPr>
          <a:xfrm>
            <a:off x="6629400" y="4114800"/>
            <a:ext cx="1920240" cy="457200"/>
          </a:xfrm>
          <a:prstGeom prst="rect">
            <a:avLst/>
          </a:prstGeom>
          <a:noFill/>
          <a:ln/>
        </p:spPr>
        <p:txBody>
          <a:bodyPr wrap="square" lIns="0" tIns="0" rIns="0" bIns="0" rtlCol="0" anchor="t"/>
          <a:lstStyle/>
          <a:p>
            <a:pPr indent="0" marL="0">
              <a:buNone/>
            </a:pPr>
            <a:r>
              <a:rPr lang="en-US" sz="1100" dirty="0">
                <a:solidFill>
                  <a:schemeClr val="accent4"/>
                </a:solidFill>
              </a:rPr>
              <a:t>Electronics vs Non-Electronics, p = 0.413674</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tx1"/>
                </a:solidFill>
              </a:rPr>
              <a:t>Business Recommendations</a:t>
            </a:r>
            <a:endParaRPr lang="en-US" sz="2600" dirty="0"/>
          </a:p>
        </p:txBody>
      </p:sp>
      <p:sp>
        <p:nvSpPr>
          <p:cNvPr id="3" name="Text 2"/>
          <p:cNvSpPr/>
          <p:nvPr>
            <p:ph idx="103" type="body" hasCustomPrompt="1"/>
          </p:nvPr>
        </p:nvSpPr>
        <p:spPr>
          <a:xfrm>
            <a:off x="457200" y="77724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Six practical actions that follow from the evidence</a:t>
            </a:r>
            <a:endParaRPr lang="en-US" sz="1400" dirty="0"/>
          </a:p>
        </p:txBody>
      </p:sp>
      <p:sp>
        <p:nvSpPr>
          <p:cNvPr id="4" name="Recommendation card 1"/>
          <p:cNvSpPr/>
          <p:nvPr/>
        </p:nvSpPr>
        <p:spPr>
          <a:xfrm>
            <a:off x="457200" y="137160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Recommendation 1 number"/>
          <p:cNvSpPr/>
          <p:nvPr/>
        </p:nvSpPr>
        <p:spPr>
          <a:xfrm>
            <a:off x="594360" y="1508760"/>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6" name="Recommendation 1 headline"/>
          <p:cNvSpPr txBox="1"/>
          <p:nvPr/>
        </p:nvSpPr>
        <p:spPr>
          <a:xfrm>
            <a:off x="1078992" y="148132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Prioritise High Value retention</a:t>
            </a:r>
            <a:endParaRPr lang="en-US" sz="1400" dirty="0"/>
          </a:p>
        </p:txBody>
      </p:sp>
      <p:sp>
        <p:nvSpPr>
          <p:cNvPr id="7" name="Recommendation 1 detail"/>
          <p:cNvSpPr txBox="1"/>
          <p:nvPr/>
        </p:nvSpPr>
        <p:spPr>
          <a:xfrm>
            <a:off x="621792" y="2029968"/>
            <a:ext cx="2240280" cy="777240"/>
          </a:xfrm>
          <a:prstGeom prst="rect">
            <a:avLst/>
          </a:prstGeom>
          <a:noFill/>
          <a:ln/>
        </p:spPr>
        <p:txBody>
          <a:bodyPr wrap="square" lIns="0" tIns="0" rIns="0" bIns="0" rtlCol="0" anchor="t"/>
          <a:lstStyle/>
          <a:p>
            <a:pPr indent="0" marL="0">
              <a:buNone/>
            </a:pPr>
            <a:r>
              <a:rPr lang="en-US" sz="1200" dirty="0">
                <a:solidFill>
                  <a:schemeClr val="accent4"/>
                </a:solidFill>
              </a:rPr>
              <a:t>Build retention and relationship programmes for the segment driving ≈55% of sales.</a:t>
            </a:r>
            <a:endParaRPr lang="en-US" sz="1200" dirty="0"/>
          </a:p>
        </p:txBody>
      </p:sp>
      <p:sp>
        <p:nvSpPr>
          <p:cNvPr id="8" name="Recommendation card 2"/>
          <p:cNvSpPr/>
          <p:nvPr/>
        </p:nvSpPr>
        <p:spPr>
          <a:xfrm>
            <a:off x="3291840" y="137160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Recommendation 2 number"/>
          <p:cNvSpPr/>
          <p:nvPr/>
        </p:nvSpPr>
        <p:spPr>
          <a:xfrm>
            <a:off x="3429000" y="150876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Recommendation 2 headline"/>
          <p:cNvSpPr txBox="1"/>
          <p:nvPr/>
        </p:nvSpPr>
        <p:spPr>
          <a:xfrm>
            <a:off x="3913632" y="148132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Maintain Electronics strength</a:t>
            </a:r>
            <a:endParaRPr lang="en-US" sz="1400" dirty="0"/>
          </a:p>
        </p:txBody>
      </p:sp>
      <p:sp>
        <p:nvSpPr>
          <p:cNvPr id="11" name="Recommendation 2 detail"/>
          <p:cNvSpPr txBox="1"/>
          <p:nvPr/>
        </p:nvSpPr>
        <p:spPr>
          <a:xfrm>
            <a:off x="3456432" y="2029968"/>
            <a:ext cx="2240280" cy="777240"/>
          </a:xfrm>
          <a:prstGeom prst="rect">
            <a:avLst/>
          </a:prstGeom>
          <a:noFill/>
          <a:ln/>
        </p:spPr>
        <p:txBody>
          <a:bodyPr wrap="square" lIns="0" tIns="0" rIns="0" bIns="0" rtlCol="0" anchor="t"/>
          <a:lstStyle/>
          <a:p>
            <a:pPr indent="0" marL="0">
              <a:buNone/>
            </a:pPr>
            <a:r>
              <a:rPr lang="en-US" sz="1200" dirty="0">
                <a:solidFill>
                  <a:schemeClr val="accent4"/>
                </a:solidFill>
              </a:rPr>
              <a:t>Keep inventory, pricing and availability aligned with demand in the largest category.</a:t>
            </a:r>
            <a:endParaRPr lang="en-US" sz="1200" dirty="0"/>
          </a:p>
        </p:txBody>
      </p:sp>
      <p:sp>
        <p:nvSpPr>
          <p:cNvPr id="12" name="Recommendation card 3"/>
          <p:cNvSpPr/>
          <p:nvPr/>
        </p:nvSpPr>
        <p:spPr>
          <a:xfrm>
            <a:off x="6126480" y="137160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Recommendation 3 number"/>
          <p:cNvSpPr/>
          <p:nvPr/>
        </p:nvSpPr>
        <p:spPr>
          <a:xfrm>
            <a:off x="6263640" y="150876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Recommendation 3 headline"/>
          <p:cNvSpPr txBox="1"/>
          <p:nvPr/>
        </p:nvSpPr>
        <p:spPr>
          <a:xfrm>
            <a:off x="6748272" y="148132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Monitor Laptop and Mobile</a:t>
            </a:r>
            <a:endParaRPr lang="en-US" sz="1400" dirty="0"/>
          </a:p>
        </p:txBody>
      </p:sp>
      <p:sp>
        <p:nvSpPr>
          <p:cNvPr id="15" name="Recommendation 3 detail"/>
          <p:cNvSpPr txBox="1"/>
          <p:nvPr/>
        </p:nvSpPr>
        <p:spPr>
          <a:xfrm>
            <a:off x="6291072" y="2029968"/>
            <a:ext cx="2240280" cy="777240"/>
          </a:xfrm>
          <a:prstGeom prst="rect">
            <a:avLst/>
          </a:prstGeom>
          <a:noFill/>
          <a:ln/>
        </p:spPr>
        <p:txBody>
          <a:bodyPr wrap="square" lIns="0" tIns="0" rIns="0" bIns="0" rtlCol="0" anchor="t"/>
          <a:lstStyle/>
          <a:p>
            <a:pPr indent="0" marL="0">
              <a:buNone/>
            </a:pPr>
            <a:r>
              <a:rPr lang="en-US" sz="1200" dirty="0">
                <a:solidFill>
                  <a:schemeClr val="accent4"/>
                </a:solidFill>
              </a:rPr>
              <a:t>Track the two leading products closely and watch the wider portfolio.</a:t>
            </a:r>
            <a:endParaRPr lang="en-US" sz="1200" dirty="0"/>
          </a:p>
        </p:txBody>
      </p:sp>
      <p:sp>
        <p:nvSpPr>
          <p:cNvPr id="16" name="Recommendation card 4"/>
          <p:cNvSpPr/>
          <p:nvPr/>
        </p:nvSpPr>
        <p:spPr>
          <a:xfrm>
            <a:off x="457200" y="315468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7" name="Recommendation 4 number"/>
          <p:cNvSpPr/>
          <p:nvPr/>
        </p:nvSpPr>
        <p:spPr>
          <a:xfrm>
            <a:off x="594360" y="329184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Recommendation 4 headline"/>
          <p:cNvSpPr txBox="1"/>
          <p:nvPr/>
        </p:nvSpPr>
        <p:spPr>
          <a:xfrm>
            <a:off x="1078992" y="326440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Use geographic insights</a:t>
            </a:r>
            <a:endParaRPr lang="en-US" sz="1400" dirty="0"/>
          </a:p>
        </p:txBody>
      </p:sp>
      <p:sp>
        <p:nvSpPr>
          <p:cNvPr id="19" name="Recommendation 4 detail"/>
          <p:cNvSpPr txBox="1"/>
          <p:nvPr/>
        </p:nvSpPr>
        <p:spPr>
          <a:xfrm>
            <a:off x="621792" y="3813048"/>
            <a:ext cx="2240280" cy="777240"/>
          </a:xfrm>
          <a:prstGeom prst="rect">
            <a:avLst/>
          </a:prstGeom>
          <a:noFill/>
          <a:ln/>
        </p:spPr>
        <p:txBody>
          <a:bodyPr wrap="square" lIns="0" tIns="0" rIns="0" bIns="0" rtlCol="0" anchor="t"/>
          <a:lstStyle/>
          <a:p>
            <a:pPr indent="0" marL="0">
              <a:buNone/>
            </a:pPr>
            <a:r>
              <a:rPr lang="en-US" sz="1200" dirty="0">
                <a:solidFill>
                  <a:schemeClr val="accent4"/>
                </a:solidFill>
              </a:rPr>
              <a:t>Weigh total sales and sales per customer to spot growth opportunities across cities.</a:t>
            </a:r>
            <a:endParaRPr lang="en-US" sz="1200" dirty="0"/>
          </a:p>
        </p:txBody>
      </p:sp>
      <p:sp>
        <p:nvSpPr>
          <p:cNvPr id="20" name="Recommendation card 5"/>
          <p:cNvSpPr/>
          <p:nvPr/>
        </p:nvSpPr>
        <p:spPr>
          <a:xfrm>
            <a:off x="3291840" y="315468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Recommendation 5 number"/>
          <p:cNvSpPr/>
          <p:nvPr/>
        </p:nvSpPr>
        <p:spPr>
          <a:xfrm>
            <a:off x="3429000" y="329184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2" name="Recommendation 5 headline"/>
          <p:cNvSpPr txBox="1"/>
          <p:nvPr/>
        </p:nvSpPr>
        <p:spPr>
          <a:xfrm>
            <a:off x="3913632" y="326440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Monitor monthly trends</a:t>
            </a:r>
            <a:endParaRPr lang="en-US" sz="1400" dirty="0"/>
          </a:p>
        </p:txBody>
      </p:sp>
      <p:sp>
        <p:nvSpPr>
          <p:cNvPr id="23" name="Recommendation 5 detail"/>
          <p:cNvSpPr txBox="1"/>
          <p:nvPr/>
        </p:nvSpPr>
        <p:spPr>
          <a:xfrm>
            <a:off x="3456432" y="3813048"/>
            <a:ext cx="2240280" cy="777240"/>
          </a:xfrm>
          <a:prstGeom prst="rect">
            <a:avLst/>
          </a:prstGeom>
          <a:noFill/>
          <a:ln/>
        </p:spPr>
        <p:txBody>
          <a:bodyPr wrap="square" lIns="0" tIns="0" rIns="0" bIns="0" rtlCol="0" anchor="t"/>
          <a:lstStyle/>
          <a:p>
            <a:pPr indent="0" marL="0">
              <a:buNone/>
            </a:pPr>
            <a:r>
              <a:rPr lang="en-US" sz="1200" dirty="0">
                <a:solidFill>
                  <a:schemeClr val="accent4"/>
                </a:solidFill>
              </a:rPr>
              <a:t>Use time-based patterns to guide sales planning and inventory decisions.</a:t>
            </a:r>
            <a:endParaRPr lang="en-US" sz="1200" dirty="0"/>
          </a:p>
        </p:txBody>
      </p:sp>
      <p:sp>
        <p:nvSpPr>
          <p:cNvPr id="24" name="Recommendation card 6"/>
          <p:cNvSpPr/>
          <p:nvPr/>
        </p:nvSpPr>
        <p:spPr>
          <a:xfrm>
            <a:off x="6126480" y="3154680"/>
            <a:ext cx="25603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5" name="Recommendation 6 number"/>
          <p:cNvSpPr/>
          <p:nvPr/>
        </p:nvSpPr>
        <p:spPr>
          <a:xfrm>
            <a:off x="6263640" y="329184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6" name="Recommendation 6 headline"/>
          <p:cNvSpPr txBox="1"/>
          <p:nvPr/>
        </p:nvSpPr>
        <p:spPr>
          <a:xfrm>
            <a:off x="6748272" y="3264408"/>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Pair metrics with statistics</a:t>
            </a:r>
            <a:endParaRPr lang="en-US" sz="1400" dirty="0"/>
          </a:p>
        </p:txBody>
      </p:sp>
      <p:sp>
        <p:nvSpPr>
          <p:cNvPr id="27" name="Recommendation 6 detail"/>
          <p:cNvSpPr txBox="1"/>
          <p:nvPr/>
        </p:nvSpPr>
        <p:spPr>
          <a:xfrm>
            <a:off x="6291072" y="3813048"/>
            <a:ext cx="2240280" cy="777240"/>
          </a:xfrm>
          <a:prstGeom prst="rect">
            <a:avLst/>
          </a:prstGeom>
          <a:noFill/>
          <a:ln/>
        </p:spPr>
        <p:txBody>
          <a:bodyPr wrap="square" lIns="0" tIns="0" rIns="0" bIns="0" rtlCol="0" anchor="t"/>
          <a:lstStyle/>
          <a:p>
            <a:pPr indent="0" marL="0">
              <a:buNone/>
            </a:pPr>
            <a:r>
              <a:rPr lang="en-US" sz="1200" dirty="0">
                <a:solidFill>
                  <a:schemeClr val="accent4"/>
                </a:solidFill>
              </a:rPr>
              <a:t>Use statistical validation alongside descriptive metrics for important decisions.</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txBox="1"/>
          <p:nvPr>
            <p:ph idx="102" type="title" hasCustomPrompt="1"/>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chemeClr val="bg1"/>
                </a:solidFill>
              </a:rPr>
              <a:t>Conclusion &amp; Call to Action</a:t>
            </a:r>
            <a:endParaRPr lang="en-US" sz="2600" dirty="0"/>
          </a:p>
        </p:txBody>
      </p:sp>
      <p:sp>
        <p:nvSpPr>
          <p:cNvPr id="3" name="Conclusion text"/>
          <p:cNvSpPr txBox="1"/>
          <p:nvPr/>
        </p:nvSpPr>
        <p:spPr>
          <a:xfrm>
            <a:off x="457200" y="1371600"/>
            <a:ext cx="4114800" cy="3291840"/>
          </a:xfrm>
          <a:prstGeom prst="rect">
            <a:avLst/>
          </a:prstGeom>
          <a:noFill/>
          <a:ln/>
        </p:spPr>
        <p:txBody>
          <a:bodyPr wrap="square" lIns="0" tIns="0" rIns="0" bIns="0" rtlCol="0" anchor="t"/>
          <a:lstStyle/>
          <a:p>
            <a:pPr indent="0" marL="0">
              <a:spcAft>
                <a:spcPts val="1400"/>
              </a:spcAft>
              <a:buNone/>
            </a:pPr>
            <a:r>
              <a:rPr lang="en-US" sz="1600" dirty="0">
                <a:solidFill>
                  <a:schemeClr val="bg1"/>
                </a:solidFill>
              </a:rPr>
              <a:t>Strong overall sales, with revenue concentrated among High Value customers and Electronics as the leading revenue-generating category.</a:t>
            </a:r>
            <a:endParaRPr lang="en-US" sz="1600" dirty="0"/>
          </a:p>
          <a:p>
            <a:pPr indent="0" marL="0">
              <a:spcAft>
                <a:spcPts val="1400"/>
              </a:spcAft>
              <a:buNone/>
            </a:pPr>
            <a:r>
              <a:rPr lang="en-US" sz="1600" dirty="0">
                <a:solidFill>
                  <a:schemeClr val="accent5"/>
                </a:solidFill>
              </a:rPr>
              <a:t>However, statistical validation shows no significant difference in average transaction sales between Electronics and Non-Electronics.</a:t>
            </a:r>
            <a:endParaRPr lang="en-US" sz="1600" dirty="0"/>
          </a:p>
          <a:p>
            <a:pPr indent="0" marL="0">
              <a:spcAft>
                <a:spcPts val="1400"/>
              </a:spcAft>
              <a:buNone/>
            </a:pPr>
            <a:r>
              <a:rPr lang="en-US" sz="1600" b="1" dirty="0">
                <a:solidFill>
                  <a:schemeClr val="accent2"/>
                </a:solidFill>
              </a:rPr>
              <a:t>Decisions should combine descriptive business intelligence with statistical evidence.</a:t>
            </a:r>
            <a:endParaRPr lang="en-US" sz="1600" dirty="0"/>
          </a:p>
        </p:txBody>
      </p:sp>
      <p:sp>
        <p:nvSpPr>
          <p:cNvPr id="4" name="CTA card"/>
          <p:cNvSpPr/>
          <p:nvPr/>
        </p:nvSpPr>
        <p:spPr>
          <a:xfrm>
            <a:off x="4892040" y="1371600"/>
            <a:ext cx="3794760" cy="3291840"/>
          </a:xfrm>
          <a:prstGeom prst="roundRect">
            <a:avLst>
              <a:gd name="adj" fmla="val 2222"/>
            </a:avLst>
          </a:prstGeom>
          <a:solidFill>
            <a:schemeClr val="tx2"/>
          </a:solidFill>
          <a:ln w="12700">
            <a:solidFill>
              <a:schemeClr val="tx2"/>
            </a:solidFill>
            <a:prstDash val="solid"/>
          </a:ln>
        </p:spPr>
      </p:sp>
      <p:sp>
        <p:nvSpPr>
          <p:cNvPr id="5" name="CTA label"/>
          <p:cNvSpPr txBox="1"/>
          <p:nvPr/>
        </p:nvSpPr>
        <p:spPr>
          <a:xfrm>
            <a:off x="5120640" y="1527048"/>
            <a:ext cx="329184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CALL TO ACTION</a:t>
            </a:r>
            <a:endParaRPr lang="en-US" sz="1100" dirty="0"/>
          </a:p>
        </p:txBody>
      </p:sp>
      <p:sp>
        <p:nvSpPr>
          <p:cNvPr id="6" name="CTA 1 number"/>
          <p:cNvSpPr/>
          <p:nvPr/>
        </p:nvSpPr>
        <p:spPr>
          <a:xfrm>
            <a:off x="5120640" y="1938528"/>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7" name="CTA 1 text"/>
          <p:cNvSpPr txBox="1"/>
          <p:nvPr/>
        </p:nvSpPr>
        <p:spPr>
          <a:xfrm>
            <a:off x="5577840" y="1874520"/>
            <a:ext cx="2926080" cy="438912"/>
          </a:xfrm>
          <a:prstGeom prst="rect">
            <a:avLst/>
          </a:prstGeom>
          <a:noFill/>
          <a:ln/>
        </p:spPr>
        <p:txBody>
          <a:bodyPr wrap="square" lIns="0" tIns="0" rIns="0" bIns="0" rtlCol="0" anchor="ctr"/>
          <a:lstStyle/>
          <a:p>
            <a:pPr indent="0" marL="0">
              <a:buNone/>
            </a:pPr>
            <a:r>
              <a:rPr lang="en-US" sz="1300" dirty="0">
                <a:solidFill>
                  <a:schemeClr val="bg1"/>
                </a:solidFill>
              </a:rPr>
              <a:t>Strengthen High Value customer retention</a:t>
            </a:r>
            <a:endParaRPr lang="en-US" sz="1300" dirty="0"/>
          </a:p>
        </p:txBody>
      </p:sp>
      <p:sp>
        <p:nvSpPr>
          <p:cNvPr id="8" name="CTA 2 number"/>
          <p:cNvSpPr/>
          <p:nvPr/>
        </p:nvSpPr>
        <p:spPr>
          <a:xfrm>
            <a:off x="5120640" y="2468880"/>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9" name="CTA 2 text"/>
          <p:cNvSpPr txBox="1"/>
          <p:nvPr/>
        </p:nvSpPr>
        <p:spPr>
          <a:xfrm>
            <a:off x="5577840" y="2404872"/>
            <a:ext cx="2926080" cy="438912"/>
          </a:xfrm>
          <a:prstGeom prst="rect">
            <a:avLst/>
          </a:prstGeom>
          <a:noFill/>
          <a:ln/>
        </p:spPr>
        <p:txBody>
          <a:bodyPr wrap="square" lIns="0" tIns="0" rIns="0" bIns="0" rtlCol="0" anchor="ctr"/>
          <a:lstStyle/>
          <a:p>
            <a:pPr indent="0" marL="0">
              <a:buNone/>
            </a:pPr>
            <a:r>
              <a:rPr lang="en-US" sz="1300" dirty="0">
                <a:solidFill>
                  <a:schemeClr val="bg1"/>
                </a:solidFill>
              </a:rPr>
              <a:t>Monitor Electronics and key products</a:t>
            </a:r>
            <a:endParaRPr lang="en-US" sz="1300" dirty="0"/>
          </a:p>
        </p:txBody>
      </p:sp>
      <p:sp>
        <p:nvSpPr>
          <p:cNvPr id="10" name="CTA 3 number"/>
          <p:cNvSpPr/>
          <p:nvPr/>
        </p:nvSpPr>
        <p:spPr>
          <a:xfrm>
            <a:off x="5120640" y="2999232"/>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1" name="CTA 3 text"/>
          <p:cNvSpPr txBox="1"/>
          <p:nvPr/>
        </p:nvSpPr>
        <p:spPr>
          <a:xfrm>
            <a:off x="5577840" y="2935224"/>
            <a:ext cx="2926080" cy="438912"/>
          </a:xfrm>
          <a:prstGeom prst="rect">
            <a:avLst/>
          </a:prstGeom>
          <a:noFill/>
          <a:ln/>
        </p:spPr>
        <p:txBody>
          <a:bodyPr wrap="square" lIns="0" tIns="0" rIns="0" bIns="0" rtlCol="0" anchor="ctr"/>
          <a:lstStyle/>
          <a:p>
            <a:pPr indent="0" marL="0">
              <a:buNone/>
            </a:pPr>
            <a:r>
              <a:rPr lang="en-US" sz="1300" dirty="0">
                <a:solidFill>
                  <a:schemeClr val="bg1"/>
                </a:solidFill>
              </a:rPr>
              <a:t>Identify geographic growth opportunities</a:t>
            </a:r>
            <a:endParaRPr lang="en-US" sz="1300" dirty="0"/>
          </a:p>
        </p:txBody>
      </p:sp>
      <p:sp>
        <p:nvSpPr>
          <p:cNvPr id="12" name="CTA 4 number"/>
          <p:cNvSpPr/>
          <p:nvPr/>
        </p:nvSpPr>
        <p:spPr>
          <a:xfrm>
            <a:off x="5120640" y="3529584"/>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3" name="CTA 4 text"/>
          <p:cNvSpPr txBox="1"/>
          <p:nvPr/>
        </p:nvSpPr>
        <p:spPr>
          <a:xfrm>
            <a:off x="5577840" y="3465576"/>
            <a:ext cx="2926080" cy="438912"/>
          </a:xfrm>
          <a:prstGeom prst="rect">
            <a:avLst/>
          </a:prstGeom>
          <a:noFill/>
          <a:ln/>
        </p:spPr>
        <p:txBody>
          <a:bodyPr wrap="square" lIns="0" tIns="0" rIns="0" bIns="0" rtlCol="0" anchor="ctr"/>
          <a:lstStyle/>
          <a:p>
            <a:pPr indent="0" marL="0">
              <a:buNone/>
            </a:pPr>
            <a:r>
              <a:rPr lang="en-US" sz="1300" dirty="0">
                <a:solidFill>
                  <a:schemeClr val="bg1"/>
                </a:solidFill>
              </a:rPr>
              <a:t>Track monthly sales trends</a:t>
            </a:r>
            <a:endParaRPr lang="en-US" sz="1300" dirty="0"/>
          </a:p>
        </p:txBody>
      </p:sp>
      <p:sp>
        <p:nvSpPr>
          <p:cNvPr id="14" name="CTA 5 number"/>
          <p:cNvSpPr/>
          <p:nvPr/>
        </p:nvSpPr>
        <p:spPr>
          <a:xfrm>
            <a:off x="5120640" y="4059936"/>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15" name="CTA 5 text"/>
          <p:cNvSpPr txBox="1"/>
          <p:nvPr/>
        </p:nvSpPr>
        <p:spPr>
          <a:xfrm>
            <a:off x="5577840" y="3995928"/>
            <a:ext cx="2926080" cy="438912"/>
          </a:xfrm>
          <a:prstGeom prst="rect">
            <a:avLst/>
          </a:prstGeom>
          <a:noFill/>
          <a:ln/>
        </p:spPr>
        <p:txBody>
          <a:bodyPr wrap="square" lIns="0" tIns="0" rIns="0" bIns="0" rtlCol="0" anchor="ctr"/>
          <a:lstStyle/>
          <a:p>
            <a:pPr indent="0" marL="0">
              <a:buNone/>
            </a:pPr>
            <a:r>
              <a:rPr lang="en-US" sz="1300" dirty="0">
                <a:solidFill>
                  <a:schemeClr val="bg1"/>
                </a:solidFill>
              </a:rPr>
              <a:t>Use statistical validation for important business decisions</a:t>
            </a:r>
            <a:endParaRPr lang="en-US" sz="13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C8D3E1"/>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pexPlanet Executive">
  <a:themeElements>
    <a:clrScheme name="ApexPlanet Executive">
      <a:dk1>
        <a:srgbClr val="10233F"/>
      </a:dk1>
      <a:lt1>
        <a:srgbClr val="FFFFFF"/>
      </a:lt1>
      <a:dk2>
        <a:srgbClr val="1F4E8C"/>
      </a:dk2>
      <a:lt2>
        <a:srgbClr val="F1F4F8"/>
      </a:lt2>
      <a:accent1>
        <a:srgbClr val="1F77B4"/>
      </a:accent1>
      <a:accent2>
        <a:srgbClr val="E8A33D"/>
      </a:accent2>
      <a:accent3>
        <a:srgbClr val="2A9D8F"/>
      </a:accent3>
      <a:accent4>
        <a:srgbClr val="5B6B80"/>
      </a:accent4>
      <a:accent5>
        <a:srgbClr val="C8D3E1"/>
      </a:accent5>
      <a:accent6>
        <a:srgbClr val="B23A48"/>
      </a:accent6>
      <a:hlink>
        <a:srgbClr val="1F77B4"/>
      </a:hlink>
      <a:folHlink>
        <a:srgbClr val="5B6B80"/>
      </a:folHlink>
    </a:clrScheme>
    <a:fontScheme name="ApexPlanet Execu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&amp; Customer Intelligence</dc:title>
  <dc:subject>PptxGenJS Presentation</dc:subject>
  <dc:creator>ApexPlanet Data Analytics Internship</dc:creator>
  <cp:lastModifiedBy>ApexPlanet Data Analytics Internship</cp:lastModifiedBy>
  <cp:revision>1</cp:revision>
  <dcterms:created xsi:type="dcterms:W3CDTF">2026-10-05T07:03:57Z</dcterms:created>
  <dcterms:modified xsi:type="dcterms:W3CDTF">2026-10-05T07:03:57Z</dcterms:modified>
</cp:coreProperties>
</file>